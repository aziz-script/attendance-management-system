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19"/>
  </p:notesMasterIdLst>
  <p:sldIdLst>
    <p:sldId id="269" r:id="rId2"/>
    <p:sldId id="257" r:id="rId3"/>
    <p:sldId id="258" r:id="rId4"/>
    <p:sldId id="259" r:id="rId5"/>
    <p:sldId id="260" r:id="rId6"/>
    <p:sldId id="261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2" r:id="rId16"/>
    <p:sldId id="263" r:id="rId17"/>
    <p:sldId id="264" r:id="rId18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4F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7346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BE9F2-1E04-B968-9009-2BF941744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7760F8-193E-B22D-C9F3-F7F786DE1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36D0A-A311-6534-F8E6-770376348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59FF3-436F-B4EE-20A0-ACEAB7C4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DF3B4-0865-53D1-CF58-981FB8576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48386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7970C-F8F9-2C75-1EE9-DEF1E573E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F2827-2DE1-D079-1F20-041E2B881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FF1EA-9B84-9C33-3AA2-2C08C2621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0D088-3102-E546-AE4A-637E83E2B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D1659-83A7-7467-890D-F4744AB7C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42077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CDC86-2B55-5784-9871-44340D030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0E0E6-C063-C0BE-941D-CE1D6CA80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997C3-522D-AB3C-F4EB-15F7958B0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41947-08DD-BDB7-BCC7-4ADCD46F8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8577D-9C28-62AF-B885-746EF4F06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86170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C7E75-5241-9E97-4EB9-AEAF422DF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F9952-B45B-BCEB-6107-7C9E957821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24CE1-1185-9A1E-E866-E3755FE38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E031C-96D3-FEB5-03F1-28489699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8F302-4146-E914-52B3-A6225B7CB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1E976-1C5A-A45F-73AF-52EA24E97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96772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97174-FDD1-8819-7E61-36CF3891F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8FA0F-D4C2-1131-CFDC-144B989D2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F58B-E73F-E094-239A-A3754DFC0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234917-8973-2288-478E-40C6F1EE27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26DA09-2A15-C6AF-304B-D1C8EF18FB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A247E5-1452-5D33-FB4A-EFA4C7C25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B5E5BE-5BFD-F3F7-ADE5-05063987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AE842D-34F7-29EA-36CF-B32425FDC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17465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DFFF6-F020-BC8E-3D7D-6DB31F9D7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A53A69-D4E9-A122-AF53-90459480D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D42CE4-484E-A031-5CD6-0ED6D7324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43EC6-FCDE-42F8-C3D8-11C5528DD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8764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67686-FCAF-81D1-3CD8-0FBC4B4DC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DB1244-BEA1-48FF-11F4-06BF4C3B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8CFE5-F017-5DB6-0B2B-A33167A6C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15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618ED-2B4D-29AC-B914-1181E158A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9091E-5C8C-F23C-2FFC-7A5098831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492A47-A66F-8336-ED09-9D8BEDFA3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0608B-0D0A-4701-07D3-BC12592DA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09432-275B-0846-93C5-9AE6EB0E2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A2BEB-69B3-F653-36F6-9D628E67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8595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F4A79-36B7-81C1-4AFC-C49697A05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0EBED6-C6E4-B390-2414-1C023E8A0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3C327-EFA0-A49D-9BA2-C7E482954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E41BF-FD54-7F9E-24F5-E04F4C983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17-Jun-26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142C1-3F2E-0C10-1FD4-91E39878A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72BDD-D538-320C-C4E0-18678721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76358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72B03-5216-F7A6-F4CB-7BE7F5EFF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3F8C94-008C-014F-443C-8CBF4F2BA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0059C-4EAE-40D4-1414-C85CD669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C046-88AE-DD57-8DC7-30AF1F2FF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D204E-687C-C3AC-F2B3-D3A39037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03786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44C518-0FF4-2E5A-C451-3B3D6C7D0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F009A9-C989-AE0B-6738-CCF0912E9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823A-8831-68CA-B886-629EE9C4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B53D7-155B-55C3-8F07-AF0F2ED9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09FEF-9859-4DA8-5A04-7B3A7CC3B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10832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9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F3210E-74C4-69CB-D743-88381D9D4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8EA04-569E-0EA4-FA49-F6F636FEA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39446-DF89-F933-A5C0-EF85D53CCC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17-Jun-26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12C3B-0136-9C0C-0D8C-4CD0991514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88E14-8BF8-C22B-DF31-6779BE63E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565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slide" Target="slide7.xml"/><Relationship Id="rId7" Type="http://schemas.openxmlformats.org/officeDocument/2006/relationships/slide" Target="slide1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10" Type="http://schemas.openxmlformats.org/officeDocument/2006/relationships/slide" Target="slide14.xml"/><Relationship Id="rId4" Type="http://schemas.openxmlformats.org/officeDocument/2006/relationships/slide" Target="slide8.xml"/><Relationship Id="rId9" Type="http://schemas.openxmlformats.org/officeDocument/2006/relationships/slide" Target="slide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or 5"/>
          <p:cNvCxnSpPr>
            <a:cxnSpLocks/>
          </p:cNvCxnSpPr>
          <p:nvPr/>
        </p:nvCxnSpPr>
        <p:spPr>
          <a:xfrm>
            <a:off x="3655666" y="3346650"/>
            <a:ext cx="1832438" cy="0"/>
          </a:xfrm>
          <a:prstGeom prst="line">
            <a:avLst/>
          </a:prstGeom>
          <a:ln w="31750">
            <a:solidFill>
              <a:srgbClr val="D9B4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52FA5E0-A8BE-510F-59C5-CD809A27090C}"/>
              </a:ext>
            </a:extLst>
          </p:cNvPr>
          <p:cNvGrpSpPr/>
          <p:nvPr/>
        </p:nvGrpSpPr>
        <p:grpSpPr>
          <a:xfrm>
            <a:off x="457085" y="469712"/>
            <a:ext cx="8229600" cy="462909"/>
            <a:chOff x="457085" y="469712"/>
            <a:chExt cx="8229600" cy="462909"/>
          </a:xfrm>
        </p:grpSpPr>
        <p:sp>
          <p:nvSpPr>
            <p:cNvPr id="7" name="TextBox 6"/>
            <p:cNvSpPr txBox="1"/>
            <p:nvPr/>
          </p:nvSpPr>
          <p:spPr>
            <a:xfrm>
              <a:off x="457085" y="469712"/>
              <a:ext cx="8229600" cy="2423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575" b="1" spc="90" dirty="0">
                  <a:solidFill>
                    <a:srgbClr val="FFFFFF"/>
                  </a:solidFill>
                  <a:latin typeface="Segoe UI"/>
                </a:rPr>
                <a:t>King Abdulaziz University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7085" y="759497"/>
              <a:ext cx="8229600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25">
                  <a:solidFill>
                    <a:srgbClr val="A9C6B5"/>
                  </a:solidFill>
                  <a:latin typeface="Segoe UI"/>
                </a:rPr>
                <a:t>Faculty of Computing &amp; Information Technology — Rabigh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09B2F2B-4A29-16E8-279F-7C1DDFE76D71}"/>
              </a:ext>
            </a:extLst>
          </p:cNvPr>
          <p:cNvGrpSpPr/>
          <p:nvPr/>
        </p:nvGrpSpPr>
        <p:grpSpPr>
          <a:xfrm>
            <a:off x="457085" y="1074360"/>
            <a:ext cx="8229600" cy="1831260"/>
            <a:chOff x="457085" y="1074360"/>
            <a:chExt cx="8229600" cy="183126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B1872A4-4551-0F4E-24B0-2A6D21BF9DD9}"/>
                </a:ext>
              </a:extLst>
            </p:cNvPr>
            <p:cNvGrpSpPr/>
            <p:nvPr/>
          </p:nvGrpSpPr>
          <p:grpSpPr>
            <a:xfrm>
              <a:off x="4034017" y="1074360"/>
              <a:ext cx="1075738" cy="1074360"/>
              <a:chOff x="4034017" y="1074360"/>
              <a:chExt cx="1075738" cy="1074360"/>
            </a:xfrm>
          </p:grpSpPr>
          <p:sp>
            <p:nvSpPr>
              <p:cNvPr id="2" name="Rounded Rectangle 1"/>
              <p:cNvSpPr/>
              <p:nvPr/>
            </p:nvSpPr>
            <p:spPr>
              <a:xfrm>
                <a:off x="4034017" y="1074360"/>
                <a:ext cx="1075738" cy="1074360"/>
              </a:xfrm>
              <a:prstGeom prst="roundRect">
                <a:avLst>
                  <a:gd name="adj" fmla="val 18000"/>
                </a:avLst>
              </a:prstGeom>
              <a:solidFill>
                <a:srgbClr val="2E4F3D"/>
              </a:solidFill>
              <a:ln w="15875">
                <a:solidFill>
                  <a:srgbClr val="D9B46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350"/>
              </a:p>
            </p:txBody>
          </p:sp>
          <p:sp>
            <p:nvSpPr>
              <p:cNvPr id="3" name="Oval 2"/>
              <p:cNvSpPr/>
              <p:nvPr/>
            </p:nvSpPr>
            <p:spPr>
              <a:xfrm>
                <a:off x="4269334" y="1309376"/>
                <a:ext cx="605102" cy="604328"/>
              </a:xfrm>
              <a:prstGeom prst="ellipse">
                <a:avLst/>
              </a:prstGeom>
              <a:noFill/>
              <a:ln w="50800">
                <a:solidFill>
                  <a:srgbClr val="D9B46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350"/>
              </a:p>
            </p:txBody>
          </p:sp>
          <p:cxnSp>
            <p:nvCxnSpPr>
              <p:cNvPr id="4" name="Connector 3"/>
              <p:cNvCxnSpPr/>
              <p:nvPr/>
            </p:nvCxnSpPr>
            <p:spPr>
              <a:xfrm>
                <a:off x="4426257" y="1622687"/>
                <a:ext cx="100851" cy="100721"/>
              </a:xfrm>
              <a:prstGeom prst="line">
                <a:avLst/>
              </a:prstGeom>
              <a:ln w="63500" cap="rnd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Connector 4"/>
              <p:cNvCxnSpPr/>
              <p:nvPr/>
            </p:nvCxnSpPr>
            <p:spPr>
              <a:xfrm flipV="1">
                <a:off x="4527109" y="1488392"/>
                <a:ext cx="212861" cy="235016"/>
              </a:xfrm>
              <a:prstGeom prst="line">
                <a:avLst/>
              </a:prstGeom>
              <a:ln w="63500" cap="rnd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/>
            <p:cNvSpPr txBox="1"/>
            <p:nvPr/>
          </p:nvSpPr>
          <p:spPr>
            <a:xfrm>
              <a:off x="457085" y="2143873"/>
              <a:ext cx="8229600" cy="7617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4950" b="1" spc="450" dirty="0">
                  <a:solidFill>
                    <a:srgbClr val="FFFFFF"/>
                  </a:solidFill>
                  <a:latin typeface="Segoe UI"/>
                </a:rPr>
                <a:t>AMS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57085" y="2975258"/>
            <a:ext cx="8229600" cy="2539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spc="135">
                <a:solidFill>
                  <a:srgbClr val="A9C6B5"/>
                </a:solidFill>
                <a:latin typeface="Segoe UI"/>
              </a:rPr>
              <a:t>Attendance Management System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86F0885-F69B-AC1B-FC0D-FD7E102F8403}"/>
              </a:ext>
            </a:extLst>
          </p:cNvPr>
          <p:cNvGrpSpPr/>
          <p:nvPr/>
        </p:nvGrpSpPr>
        <p:grpSpPr>
          <a:xfrm>
            <a:off x="1360292" y="3798287"/>
            <a:ext cx="2950023" cy="917742"/>
            <a:chOff x="1375152" y="3746356"/>
            <a:chExt cx="2950023" cy="917742"/>
          </a:xfrm>
        </p:grpSpPr>
        <p:sp>
          <p:nvSpPr>
            <p:cNvPr id="11" name="TextBox 10"/>
            <p:cNvSpPr txBox="1"/>
            <p:nvPr/>
          </p:nvSpPr>
          <p:spPr>
            <a:xfrm>
              <a:off x="1375152" y="3746356"/>
              <a:ext cx="294894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spc="135" dirty="0">
                  <a:solidFill>
                    <a:srgbClr val="D9B468"/>
                  </a:solidFill>
                  <a:latin typeface="Segoe UI"/>
                </a:rPr>
                <a:t>Team</a:t>
              </a:r>
              <a:endParaRPr sz="1200" b="1" spc="135" dirty="0">
                <a:solidFill>
                  <a:srgbClr val="D9B468"/>
                </a:solidFill>
                <a:latin typeface="Segoe UI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376235" y="4038218"/>
              <a:ext cx="294894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dirty="0">
                  <a:solidFill>
                    <a:srgbClr val="FFFFFF"/>
                  </a:solidFill>
                  <a:latin typeface="Segoe UI"/>
                </a:rPr>
                <a:t>Abdulaziz</a:t>
              </a:r>
              <a:r>
                <a:rPr sz="1100" dirty="0">
                  <a:solidFill>
                    <a:srgbClr val="FFFFFF"/>
                  </a:solidFill>
                  <a:latin typeface="Segoe UI"/>
                </a:rPr>
                <a:t> Othman · 1935680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76235" y="4266520"/>
              <a:ext cx="294894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dirty="0">
                  <a:solidFill>
                    <a:srgbClr val="FFFFFF"/>
                  </a:solidFill>
                  <a:latin typeface="Segoe UI"/>
                </a:rPr>
                <a:t>Ali</a:t>
              </a:r>
              <a:r>
                <a:rPr sz="1100" dirty="0">
                  <a:solidFill>
                    <a:srgbClr val="FFFFFF"/>
                  </a:solidFill>
                  <a:latin typeface="Segoe UI"/>
                </a:rPr>
                <a:t> Almejalli · 2244549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76235" y="4494821"/>
              <a:ext cx="294894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dirty="0">
                  <a:solidFill>
                    <a:srgbClr val="FFFFFF"/>
                  </a:solidFill>
                  <a:latin typeface="Segoe UI"/>
                </a:rPr>
                <a:t>Alwaleed</a:t>
              </a:r>
              <a:r>
                <a:rPr sz="1100" dirty="0">
                  <a:solidFill>
                    <a:srgbClr val="FFFFFF"/>
                  </a:solidFill>
                  <a:latin typeface="Segoe UI"/>
                </a:rPr>
                <a:t> Alghamdi · 2342305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BB5E1D2-1940-0E70-26B9-0D4B95D59197}"/>
              </a:ext>
            </a:extLst>
          </p:cNvPr>
          <p:cNvGrpSpPr/>
          <p:nvPr/>
        </p:nvGrpSpPr>
        <p:grpSpPr>
          <a:xfrm>
            <a:off x="5074393" y="3829064"/>
            <a:ext cx="2948940" cy="656609"/>
            <a:chOff x="4816430" y="4018856"/>
            <a:chExt cx="2948940" cy="656609"/>
          </a:xfrm>
        </p:grpSpPr>
        <p:sp>
          <p:nvSpPr>
            <p:cNvPr id="15" name="TextBox 14"/>
            <p:cNvSpPr txBox="1"/>
            <p:nvPr/>
          </p:nvSpPr>
          <p:spPr>
            <a:xfrm>
              <a:off x="4816430" y="4018856"/>
              <a:ext cx="294894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b="1" spc="135" dirty="0">
                  <a:solidFill>
                    <a:srgbClr val="D9B468"/>
                  </a:solidFill>
                  <a:latin typeface="Segoe UI"/>
                </a:rPr>
                <a:t>Supervisor</a:t>
              </a:r>
              <a:endParaRPr sz="1200" b="1" spc="135" dirty="0">
                <a:solidFill>
                  <a:srgbClr val="D9B468"/>
                </a:solidFill>
                <a:latin typeface="Segoe UI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16430" y="4506188"/>
              <a:ext cx="294894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dirty="0">
                  <a:solidFill>
                    <a:srgbClr val="FFFFFF"/>
                  </a:solidFill>
                  <a:latin typeface="Segoe UI"/>
                </a:rPr>
                <a:t>Dr. Nashwan </a:t>
              </a:r>
              <a:r>
                <a:rPr sz="1100" dirty="0">
                  <a:solidFill>
                    <a:srgbClr val="FFFFFF"/>
                  </a:solidFill>
                  <a:latin typeface="Segoe UI"/>
                </a:rPr>
                <a:t>Alromema</a:t>
              </a:r>
              <a:endParaRPr sz="1275" dirty="0">
                <a:solidFill>
                  <a:srgbClr val="FFFFFF"/>
                </a:solidFill>
                <a:latin typeface="Segoe UI"/>
              </a:endParaRPr>
            </a:p>
          </p:txBody>
        </p:sp>
      </p:grpSp>
      <p:sp>
        <p:nvSpPr>
          <p:cNvPr id="17" name="TextBox 16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7085" y="4842066"/>
            <a:ext cx="8229600" cy="1731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>
                <a:solidFill>
                  <a:srgbClr val="A9C6B5"/>
                </a:solidFill>
                <a:latin typeface="Segoe UI"/>
              </a:rPr>
              <a:t>Graduation project · B.Sc. Computer Science · 2025–2026</a:t>
            </a:r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14DCF550-FCB5-C4E0-F306-E333A59D42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3D6B53">
              <a:alpha val="30000"/>
            </a:srgbClr>
          </a:solidFill>
          <a:ln w="12700">
            <a:solidFill>
              <a:srgbClr val="3D6B5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1B03EF86-A6BE-3613-8630-2D8B4BF6C8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3D6B53">
              <a:alpha val="25000"/>
            </a:srgbClr>
          </a:solidFill>
          <a:ln w="12700">
            <a:solidFill>
              <a:srgbClr val="3D6B53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Graphic 20" descr="Users with solid fill">
            <a:extLst>
              <a:ext uri="{FF2B5EF4-FFF2-40B4-BE49-F238E27FC236}">
                <a16:creationId xmlns:a16="http://schemas.microsoft.com/office/drawing/2014/main" id="{8BDCF23E-69E9-4C90-C6BE-82E2DE75C7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26345" y="3295549"/>
            <a:ext cx="616834" cy="616834"/>
          </a:xfrm>
          <a:prstGeom prst="rect">
            <a:avLst/>
          </a:prstGeom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62A1ED0-E7D5-8851-5692-BD9C8E6F9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026" y="3421716"/>
            <a:ext cx="389674" cy="38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4F3D"/>
          </a:solidFill>
          <a:ln w="12700">
            <a:solidFill>
              <a:srgbClr val="2E4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73152" cy="155448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502920" cy="502920"/>
          </a:xfrm>
          <a:prstGeom prst="rect">
            <a:avLst/>
          </a:prstGeom>
          <a:ln>
            <a:noFill/>
          </a:ln>
        </p:spPr>
      </p:pic>
      <p:sp>
        <p:nvSpPr>
          <p:cNvPr id="7" name="Text 4"/>
          <p:cNvSpPr/>
          <p:nvPr/>
        </p:nvSpPr>
        <p:spPr>
          <a:xfrm>
            <a:off x="1097280" y="139903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Error-Prone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178308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sheets get lost, misread, or forgotten — attendance records are unreliable.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23444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1234440"/>
            <a:ext cx="73152" cy="1554480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54480"/>
            <a:ext cx="502920" cy="502920"/>
          </a:xfrm>
          <a:prstGeom prst="rect">
            <a:avLst/>
          </a:prstGeom>
          <a:ln>
            <a:noFill/>
          </a:ln>
        </p:spPr>
      </p:pic>
      <p:sp>
        <p:nvSpPr>
          <p:cNvPr id="12" name="Text 8"/>
          <p:cNvSpPr/>
          <p:nvPr/>
        </p:nvSpPr>
        <p:spPr>
          <a:xfrm>
            <a:off x="5577840" y="139903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 Class Time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77840" y="178308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names or passing sheets eats into valuable lecture minutes every session.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301752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274320" y="3017520"/>
            <a:ext cx="73152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337560"/>
            <a:ext cx="502920" cy="502920"/>
          </a:xfrm>
          <a:prstGeom prst="rect">
            <a:avLst/>
          </a:prstGeom>
          <a:ln>
            <a:noFill/>
          </a:ln>
        </p:spPr>
      </p:pic>
      <p:sp>
        <p:nvSpPr>
          <p:cNvPr id="17" name="Text 12"/>
          <p:cNvSpPr/>
          <p:nvPr/>
        </p:nvSpPr>
        <p:spPr>
          <a:xfrm>
            <a:off x="1097280" y="318211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Record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097280" y="356616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Grades/reports need history that doesn't exist or lives in a spreadsheet no one trusts.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01752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754880" y="3017520"/>
            <a:ext cx="73152" cy="1554480"/>
          </a:xfrm>
          <a:prstGeom prst="rect">
            <a:avLst/>
          </a:prstGeom>
          <a:solidFill>
            <a:srgbClr val="2E4F3D"/>
          </a:solidFill>
          <a:ln w="12700">
            <a:solidFill>
              <a:srgbClr val="2E4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337560"/>
            <a:ext cx="502920" cy="502920"/>
          </a:xfrm>
          <a:prstGeom prst="rect">
            <a:avLst/>
          </a:prstGeom>
          <a:ln>
            <a:noFill/>
          </a:ln>
        </p:spPr>
      </p:pic>
      <p:sp>
        <p:nvSpPr>
          <p:cNvPr id="22" name="Text 16"/>
          <p:cNvSpPr/>
          <p:nvPr/>
        </p:nvSpPr>
        <p:spPr>
          <a:xfrm>
            <a:off x="5577840" y="318211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Real-Time Insight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77840" y="356616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can't see attendance patterns or flag at-risk students early.</a:t>
            </a:r>
            <a:endParaRPr lang="en-US" sz="11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4A3854D-67F7-436E-6555-F4E2D0019DDF}"/>
              </a:ext>
            </a:extLst>
          </p:cNvPr>
          <p:cNvGrpSpPr/>
          <p:nvPr/>
        </p:nvGrpSpPr>
        <p:grpSpPr>
          <a:xfrm>
            <a:off x="8349615" y="348615"/>
            <a:ext cx="308609" cy="308609"/>
            <a:chOff x="8349615" y="348615"/>
            <a:chExt cx="308609" cy="308609"/>
          </a:xfrm>
        </p:grpSpPr>
        <p:sp>
          <p:nvSpPr>
            <p:cNvPr id="24" name="Oval 23"/>
            <p:cNvSpPr/>
            <p:nvPr/>
          </p:nvSpPr>
          <p:spPr>
            <a:xfrm>
              <a:off x="8349615" y="348615"/>
              <a:ext cx="308609" cy="308609"/>
            </a:xfrm>
            <a:prstGeom prst="ellipse">
              <a:avLst/>
            </a:prstGeom>
            <a:noFill/>
            <a:ln w="28575">
              <a:solidFill>
                <a:srgbClr val="D9B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8429625" y="508634"/>
              <a:ext cx="51435" cy="51436"/>
            </a:xfrm>
            <a:prstGeom prst="line">
              <a:avLst/>
            </a:prstGeom>
            <a:ln w="31750" cap="rnd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 flipV="1">
              <a:off x="8481060" y="440054"/>
              <a:ext cx="108585" cy="120016"/>
            </a:xfrm>
            <a:prstGeom prst="line">
              <a:avLst/>
            </a:prstGeom>
            <a:ln w="31750" cap="rnd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4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6B5"/>
                </a:solidFill>
              </a:rPr>
              <a:t>A mobile-first attendance system that replaces paper with a timed activation code.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600200"/>
            <a:ext cx="2743200" cy="2926080"/>
          </a:xfrm>
          <a:prstGeom prst="rect">
            <a:avLst/>
          </a:prstGeom>
          <a:solidFill>
            <a:srgbClr val="3D6B53">
              <a:alpha val="70000"/>
            </a:srgbClr>
          </a:solidFill>
          <a:ln w="12700">
            <a:solidFill>
              <a:srgbClr val="A9C6B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3EB3317-DFF8-AE81-87A3-C9036CF68867}"/>
              </a:ext>
            </a:extLst>
          </p:cNvPr>
          <p:cNvGrpSpPr/>
          <p:nvPr/>
        </p:nvGrpSpPr>
        <p:grpSpPr>
          <a:xfrm>
            <a:off x="1418844" y="1691640"/>
            <a:ext cx="545592" cy="545592"/>
            <a:chOff x="1418844" y="1691640"/>
            <a:chExt cx="545592" cy="545592"/>
          </a:xfrm>
        </p:grpSpPr>
        <p:sp>
          <p:nvSpPr>
            <p:cNvPr id="5" name="Shape 3"/>
            <p:cNvSpPr/>
            <p:nvPr/>
          </p:nvSpPr>
          <p:spPr>
            <a:xfrm>
              <a:off x="1418844" y="1691640"/>
              <a:ext cx="545592" cy="545592"/>
            </a:xfrm>
            <a:prstGeom prst="ellipse">
              <a:avLst/>
            </a:prstGeom>
            <a:solidFill>
              <a:srgbClr val="D9B468"/>
            </a:solidFill>
            <a:ln w="12700">
              <a:solidFill>
                <a:srgbClr val="D9B46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1418844" y="1735836"/>
              <a:ext cx="54559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2E4F3D"/>
                  </a:solidFill>
                </a:rPr>
                <a:t>1</a:t>
              </a:r>
              <a:endParaRPr lang="en-US" sz="1300" dirty="0"/>
            </a:p>
          </p:txBody>
        </p:sp>
      </p:grp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514600"/>
            <a:ext cx="822960" cy="822960"/>
          </a:xfrm>
          <a:prstGeom prst="rect">
            <a:avLst/>
          </a:prstGeom>
          <a:ln>
            <a:noFill/>
          </a:ln>
        </p:spPr>
      </p:pic>
      <p:sp>
        <p:nvSpPr>
          <p:cNvPr id="8" name="Text 5"/>
          <p:cNvSpPr/>
          <p:nvPr/>
        </p:nvSpPr>
        <p:spPr>
          <a:xfrm>
            <a:off x="320040" y="34747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Instructor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29768" y="3913632"/>
            <a:ext cx="2523744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6B5"/>
                </a:solidFill>
              </a:rPr>
              <a:t>Sets a timer duration and generates a one-time activation code for the session.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081528" y="2953512"/>
            <a:ext cx="164592" cy="54864"/>
          </a:xfrm>
          <a:prstGeom prst="rect">
            <a:avLst/>
          </a:prstGeom>
          <a:solidFill>
            <a:srgbClr val="D9B468"/>
          </a:solidFill>
          <a:ln w="12700">
            <a:solidFill>
              <a:srgbClr val="D9B4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46120" y="1600200"/>
            <a:ext cx="2743200" cy="2926080"/>
          </a:xfrm>
          <a:prstGeom prst="rect">
            <a:avLst/>
          </a:prstGeom>
          <a:solidFill>
            <a:srgbClr val="3D6B53">
              <a:alpha val="70000"/>
            </a:srgbClr>
          </a:solidFill>
          <a:ln w="12700">
            <a:solidFill>
              <a:srgbClr val="A9C6B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514600"/>
            <a:ext cx="822960" cy="822960"/>
          </a:xfrm>
          <a:prstGeom prst="rect">
            <a:avLst/>
          </a:prstGeom>
          <a:ln>
            <a:noFill/>
          </a:ln>
        </p:spPr>
      </p:pic>
      <p:sp>
        <p:nvSpPr>
          <p:cNvPr id="15" name="Text 11"/>
          <p:cNvSpPr/>
          <p:nvPr/>
        </p:nvSpPr>
        <p:spPr>
          <a:xfrm>
            <a:off x="3246120" y="34747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Shared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355848" y="3959352"/>
            <a:ext cx="2523744" cy="5974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6B5"/>
                </a:solidFill>
              </a:rPr>
              <a:t>The code is displayed on screen — students enter it in the app within the time window.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07608" y="2953512"/>
            <a:ext cx="164592" cy="54864"/>
          </a:xfrm>
          <a:prstGeom prst="rect">
            <a:avLst/>
          </a:prstGeom>
          <a:solidFill>
            <a:srgbClr val="D9B468"/>
          </a:solidFill>
          <a:ln w="12700">
            <a:solidFill>
              <a:srgbClr val="D9B4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172200" y="1600200"/>
            <a:ext cx="2743200" cy="2926080"/>
          </a:xfrm>
          <a:prstGeom prst="rect">
            <a:avLst/>
          </a:prstGeom>
          <a:solidFill>
            <a:srgbClr val="3D6B53">
              <a:alpha val="70000"/>
            </a:srgbClr>
          </a:solidFill>
          <a:ln w="12700">
            <a:solidFill>
              <a:srgbClr val="A9C6B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2514600"/>
            <a:ext cx="822960" cy="822960"/>
          </a:xfrm>
          <a:prstGeom prst="rect">
            <a:avLst/>
          </a:prstGeom>
          <a:ln>
            <a:noFill/>
          </a:ln>
        </p:spPr>
      </p:pic>
      <p:sp>
        <p:nvSpPr>
          <p:cNvPr id="22" name="Text 17"/>
          <p:cNvSpPr/>
          <p:nvPr/>
        </p:nvSpPr>
        <p:spPr>
          <a:xfrm>
            <a:off x="6172200" y="34747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281928" y="3953256"/>
            <a:ext cx="2523744" cy="5974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6B5"/>
                </a:solidFill>
              </a:rPr>
              <a:t>Submits the code. System validates timing and marks Present or Late automatically.</a:t>
            </a:r>
            <a:endParaRPr lang="en-US" sz="10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E7D4E45-7386-6754-03FE-91EC9BC139E6}"/>
              </a:ext>
            </a:extLst>
          </p:cNvPr>
          <p:cNvGrpSpPr/>
          <p:nvPr/>
        </p:nvGrpSpPr>
        <p:grpSpPr>
          <a:xfrm>
            <a:off x="4343400" y="1691640"/>
            <a:ext cx="545592" cy="545592"/>
            <a:chOff x="1418844" y="1691640"/>
            <a:chExt cx="545592" cy="545592"/>
          </a:xfrm>
        </p:grpSpPr>
        <p:sp>
          <p:nvSpPr>
            <p:cNvPr id="26" name="Shape 3">
              <a:extLst>
                <a:ext uri="{FF2B5EF4-FFF2-40B4-BE49-F238E27FC236}">
                  <a16:creationId xmlns:a16="http://schemas.microsoft.com/office/drawing/2014/main" id="{24EAA7B0-40ED-C844-C5EA-1DA92C1C6192}"/>
                </a:ext>
              </a:extLst>
            </p:cNvPr>
            <p:cNvSpPr/>
            <p:nvPr/>
          </p:nvSpPr>
          <p:spPr>
            <a:xfrm>
              <a:off x="1418844" y="1691640"/>
              <a:ext cx="545592" cy="545592"/>
            </a:xfrm>
            <a:prstGeom prst="ellipse">
              <a:avLst/>
            </a:prstGeom>
            <a:solidFill>
              <a:srgbClr val="D9B468"/>
            </a:solidFill>
            <a:ln w="12700">
              <a:solidFill>
                <a:srgbClr val="D9B46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4">
              <a:extLst>
                <a:ext uri="{FF2B5EF4-FFF2-40B4-BE49-F238E27FC236}">
                  <a16:creationId xmlns:a16="http://schemas.microsoft.com/office/drawing/2014/main" id="{CF8FEDC2-B40C-1A5E-A065-57E3346AEB21}"/>
                </a:ext>
              </a:extLst>
            </p:cNvPr>
            <p:cNvSpPr/>
            <p:nvPr/>
          </p:nvSpPr>
          <p:spPr>
            <a:xfrm>
              <a:off x="1418844" y="1735836"/>
              <a:ext cx="54559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2E4F3D"/>
                  </a:solidFill>
                </a:rPr>
                <a:t>2</a:t>
              </a:r>
              <a:endParaRPr lang="en-US" sz="13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E8167B2-341D-0A66-0043-4C880B65CDAF}"/>
              </a:ext>
            </a:extLst>
          </p:cNvPr>
          <p:cNvGrpSpPr/>
          <p:nvPr/>
        </p:nvGrpSpPr>
        <p:grpSpPr>
          <a:xfrm>
            <a:off x="7271004" y="1691640"/>
            <a:ext cx="545592" cy="545592"/>
            <a:chOff x="1418844" y="1691640"/>
            <a:chExt cx="545592" cy="545592"/>
          </a:xfrm>
        </p:grpSpPr>
        <p:sp>
          <p:nvSpPr>
            <p:cNvPr id="29" name="Shape 3">
              <a:extLst>
                <a:ext uri="{FF2B5EF4-FFF2-40B4-BE49-F238E27FC236}">
                  <a16:creationId xmlns:a16="http://schemas.microsoft.com/office/drawing/2014/main" id="{33E9B3C6-617F-93C3-B916-5B54987D4854}"/>
                </a:ext>
              </a:extLst>
            </p:cNvPr>
            <p:cNvSpPr/>
            <p:nvPr/>
          </p:nvSpPr>
          <p:spPr>
            <a:xfrm>
              <a:off x="1418844" y="1691640"/>
              <a:ext cx="545592" cy="545592"/>
            </a:xfrm>
            <a:prstGeom prst="ellipse">
              <a:avLst/>
            </a:prstGeom>
            <a:solidFill>
              <a:srgbClr val="D9B468"/>
            </a:solidFill>
            <a:ln w="12700">
              <a:solidFill>
                <a:srgbClr val="D9B46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2708D9AD-F002-875F-4E57-A66AAA0E983C}"/>
                </a:ext>
              </a:extLst>
            </p:cNvPr>
            <p:cNvSpPr/>
            <p:nvPr/>
          </p:nvSpPr>
          <p:spPr>
            <a:xfrm>
              <a:off x="1418844" y="1735836"/>
              <a:ext cx="54559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2E4F3D"/>
                  </a:solidFill>
                </a:rPr>
                <a:t>3</a:t>
              </a:r>
            </a:p>
          </p:txBody>
        </p:sp>
      </p:grpSp>
      <p:sp>
        <p:nvSpPr>
          <p:cNvPr id="31" name="Oval 30"/>
          <p:cNvSpPr/>
          <p:nvPr/>
        </p:nvSpPr>
        <p:spPr>
          <a:xfrm>
            <a:off x="8349615" y="348615"/>
            <a:ext cx="308609" cy="308609"/>
          </a:xfrm>
          <a:prstGeom prst="ellipse">
            <a:avLst/>
          </a:prstGeom>
          <a:noFill/>
          <a:ln w="28575">
            <a:solidFill>
              <a:srgbClr val="D9B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8429625" y="508634"/>
            <a:ext cx="51435" cy="51436"/>
          </a:xfrm>
          <a:prstGeom prst="line">
            <a:avLst/>
          </a:prstGeom>
          <a:ln w="3175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481060" y="440054"/>
            <a:ext cx="108585" cy="120016"/>
          </a:xfrm>
          <a:prstGeom prst="line">
            <a:avLst/>
          </a:prstGeom>
          <a:ln w="3175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4F3D"/>
          </a:solidFill>
          <a:ln w="12700">
            <a:solidFill>
              <a:srgbClr val="2E4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2" name="Oval 31"/>
          <p:cNvSpPr/>
          <p:nvPr/>
        </p:nvSpPr>
        <p:spPr>
          <a:xfrm>
            <a:off x="8349615" y="348615"/>
            <a:ext cx="308609" cy="308609"/>
          </a:xfrm>
          <a:prstGeom prst="ellipse">
            <a:avLst/>
          </a:prstGeom>
          <a:noFill/>
          <a:ln w="28575">
            <a:solidFill>
              <a:srgbClr val="D9B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8429625" y="508634"/>
            <a:ext cx="51435" cy="51436"/>
          </a:xfrm>
          <a:prstGeom prst="line">
            <a:avLst/>
          </a:prstGeom>
          <a:ln w="3175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481060" y="440054"/>
            <a:ext cx="108585" cy="120016"/>
          </a:xfrm>
          <a:prstGeom prst="line">
            <a:avLst/>
          </a:prstGeom>
          <a:ln w="3175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" y="107899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B6B61"/>
                </a:solidFill>
                <a:latin typeface="Segoe UI"/>
              </a:rPr>
              <a:t>One student tap becomes a database record — and back — in a single HTTPS round-trip.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1627632"/>
            <a:ext cx="8229600" cy="475488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150" b="1" i="0">
                <a:solidFill>
                  <a:srgbClr val="1A2E23"/>
                </a:solidFill>
                <a:latin typeface="Segoe UI"/>
              </a:rPr>
              <a:t>▶  REQUEST   </a:t>
            </a:r>
            <a:r>
              <a:rPr sz="1100" b="0" i="0">
                <a:solidFill>
                  <a:srgbClr val="1A2E23"/>
                </a:solidFill>
                <a:latin typeface="Consolas"/>
              </a:rPr>
              <a:t>POST attend/   ·   -H student_id  -H section_id  -H code:81238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7180" y="233172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297180" y="2331720"/>
            <a:ext cx="1828800" cy="384048"/>
          </a:xfrm>
          <a:prstGeom prst="roundRect">
            <a:avLst/>
          </a:prstGeom>
          <a:solidFill>
            <a:srgbClr val="2E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" y="280720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1A2E23"/>
                </a:solidFill>
                <a:latin typeface="Georgia"/>
              </a:rPr>
              <a:t>Android 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620" y="32004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B6B61"/>
                </a:solidFill>
                <a:latin typeface="Segoe UI"/>
              </a:rPr>
              <a:t>Kotlin · Retrofit · ViewBinding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37460" y="233172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537460" y="2331720"/>
            <a:ext cx="1828800" cy="384048"/>
          </a:xfrm>
          <a:prstGeom prst="roundRect">
            <a:avLst/>
          </a:prstGeom>
          <a:solidFill>
            <a:srgbClr val="1D6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28900" y="280720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1A2E23"/>
                </a:solidFill>
                <a:latin typeface="Georgia"/>
              </a:rPr>
              <a:t>REST 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28900" y="32004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B6B61"/>
                </a:solidFill>
                <a:latin typeface="Segoe UI"/>
              </a:rPr>
              <a:t>Oracle ORDS · HTTPS · Headers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77740" y="233172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777740" y="2331720"/>
            <a:ext cx="1828800" cy="384048"/>
          </a:xfrm>
          <a:prstGeom prst="roundRect">
            <a:avLst/>
          </a:prstGeom>
          <a:solidFill>
            <a:srgbClr val="7C4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69180" y="280720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1A2E23"/>
                </a:solidFill>
                <a:latin typeface="Georgia"/>
              </a:rPr>
              <a:t>PL/SQL Logic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69180" y="32004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B6B61"/>
                </a:solidFill>
                <a:latin typeface="Segoe UI"/>
              </a:rPr>
              <a:t>Code-gen · Timer · Validate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18020" y="233172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018020" y="2331720"/>
            <a:ext cx="182880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09460" y="280720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1A2E23"/>
                </a:solidFill>
                <a:latin typeface="Georgia"/>
              </a:rPr>
              <a:t>Oracle DB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09460" y="32004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B6B61"/>
                </a:solidFill>
                <a:latin typeface="Segoe UI"/>
              </a:rPr>
              <a:t>Users · Sections · Attendance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2116836" y="2921508"/>
            <a:ext cx="429768" cy="237744"/>
          </a:xfrm>
          <a:prstGeom prst="rightArrow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ight Arrow 53"/>
          <p:cNvSpPr/>
          <p:nvPr/>
        </p:nvSpPr>
        <p:spPr>
          <a:xfrm>
            <a:off x="4357116" y="2921508"/>
            <a:ext cx="429768" cy="237744"/>
          </a:xfrm>
          <a:prstGeom prst="rightArrow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ight Arrow 54"/>
          <p:cNvSpPr/>
          <p:nvPr/>
        </p:nvSpPr>
        <p:spPr>
          <a:xfrm>
            <a:off x="6597396" y="2921508"/>
            <a:ext cx="429768" cy="237744"/>
          </a:xfrm>
          <a:prstGeom prst="rightArrow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457200" y="4069080"/>
            <a:ext cx="8229600" cy="475488"/>
          </a:xfrm>
          <a:prstGeom prst="roundRect">
            <a:avLst/>
          </a:prstGeom>
          <a:solidFill>
            <a:srgbClr val="2E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150" b="1" i="0">
                <a:solidFill>
                  <a:srgbClr val="D9B468"/>
                </a:solidFill>
                <a:latin typeface="Segoe UI"/>
              </a:rPr>
              <a:t>◀  RESPONSE   </a:t>
            </a:r>
            <a:r>
              <a:rPr sz="1100" b="0" i="0">
                <a:solidFill>
                  <a:srgbClr val="FFFFFF"/>
                </a:solidFill>
                <a:latin typeface="Consolas"/>
              </a:rPr>
              <a:t>{ "body": { "status": "P" } }</a:t>
            </a:r>
            <a:r>
              <a:rPr sz="1100" b="1" i="0">
                <a:solidFill>
                  <a:srgbClr val="D9B468"/>
                </a:solidFill>
                <a:latin typeface="Segoe UI"/>
              </a:rPr>
              <a:t>   →  Marked Present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B6B61"/>
                </a:solidFill>
                <a:latin typeface="Segoe UI"/>
              </a:rPr>
              <a:t>All API calls pass parameters via HTTP headers · ORDS wraps every response in a {body} envelope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4F3D"/>
          </a:solidFill>
          <a:ln w="12700">
            <a:solidFill>
              <a:srgbClr val="2E4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Technical Decisions</a:t>
            </a:r>
            <a:endParaRPr lang="en-US" sz="3200" dirty="0"/>
          </a:p>
        </p:txBody>
      </p:sp>
      <p:sp>
        <p:nvSpPr>
          <p:cNvPr id="20" name="Oval 19"/>
          <p:cNvSpPr/>
          <p:nvPr/>
        </p:nvSpPr>
        <p:spPr>
          <a:xfrm>
            <a:off x="8349615" y="348615"/>
            <a:ext cx="308609" cy="308609"/>
          </a:xfrm>
          <a:prstGeom prst="ellipse">
            <a:avLst/>
          </a:prstGeom>
          <a:noFill/>
          <a:ln w="28575">
            <a:solidFill>
              <a:srgbClr val="D9B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8429625" y="508634"/>
            <a:ext cx="51435" cy="51436"/>
          </a:xfrm>
          <a:prstGeom prst="line">
            <a:avLst/>
          </a:prstGeom>
          <a:ln w="3175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481060" y="440054"/>
            <a:ext cx="108585" cy="120016"/>
          </a:xfrm>
          <a:prstGeom prst="line">
            <a:avLst/>
          </a:prstGeom>
          <a:ln w="3175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57200" y="1371600"/>
            <a:ext cx="39319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1371600"/>
            <a:ext cx="82296" cy="1737360"/>
          </a:xfrm>
          <a:prstGeom prst="rect">
            <a:avLst/>
          </a:prstGeom>
          <a:solidFill>
            <a:srgbClr val="2E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151790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4F3D"/>
                </a:solidFill>
                <a:latin typeface="Georgia"/>
              </a:rPr>
              <a:t>Why HTTP Headers?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1920240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61"/>
                </a:solidFill>
                <a:latin typeface="Segoe UI"/>
              </a:rPr>
              <a:t>Oracle ORDS PL/SQL handlers bind parameters from headers natively — no body parsing for POST calls, keeping the API simple.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2651760"/>
            <a:ext cx="3346703" cy="329184"/>
          </a:xfrm>
          <a:prstGeom prst="roundRect">
            <a:avLst/>
          </a:prstGeom>
          <a:solidFill>
            <a:srgbClr val="1A2E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050" b="0" i="0">
                <a:solidFill>
                  <a:srgbClr val="D9B468"/>
                </a:solidFill>
                <a:latin typeface="Consolas"/>
              </a:rPr>
              <a:t>-H "code: 81238"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1371600"/>
            <a:ext cx="39319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54880" y="1371600"/>
            <a:ext cx="82296" cy="1737360"/>
          </a:xfrm>
          <a:prstGeom prst="rect">
            <a:avLst/>
          </a:prstGeom>
          <a:solidFill>
            <a:srgbClr val="2E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47488" y="151790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4F3D"/>
                </a:solidFill>
                <a:latin typeface="Georgia"/>
              </a:rPr>
              <a:t>Two-step validate → mark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1920240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61"/>
                </a:solidFill>
                <a:latin typeface="Segoe UI"/>
              </a:rPr>
              <a:t>Validate returns Present/Late instantly; mark then commits the record — separating feedback from persistence.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47488" y="2651760"/>
            <a:ext cx="3346703" cy="329184"/>
          </a:xfrm>
          <a:prstGeom prst="roundRect">
            <a:avLst/>
          </a:prstGeom>
          <a:solidFill>
            <a:srgbClr val="1A2E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050" b="0" i="0">
                <a:solidFill>
                  <a:srgbClr val="D9B468"/>
                </a:solidFill>
                <a:latin typeface="Consolas"/>
              </a:rPr>
              <a:t>validate/  →  mark/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291840"/>
            <a:ext cx="39319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3291840"/>
            <a:ext cx="82296" cy="1737360"/>
          </a:xfrm>
          <a:prstGeom prst="rect">
            <a:avLst/>
          </a:prstGeom>
          <a:solidFill>
            <a:srgbClr val="2E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808" y="343814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4F3D"/>
                </a:solidFill>
                <a:latin typeface="Georgia"/>
              </a:rPr>
              <a:t>Timer-controlled sessions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840480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61"/>
                </a:solidFill>
                <a:latin typeface="Segoe UI"/>
              </a:rPr>
              <a:t>The start/ endpoint computes expires_at = now + N min; attend/ checks SYSTIMESTAMP against that window.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8" y="4572000"/>
            <a:ext cx="3346703" cy="329184"/>
          </a:xfrm>
          <a:prstGeom prst="roundRect">
            <a:avLst/>
          </a:prstGeom>
          <a:solidFill>
            <a:srgbClr val="1A2E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050" b="0" i="0">
                <a:solidFill>
                  <a:srgbClr val="D9B468"/>
                </a:solidFill>
                <a:latin typeface="Consolas"/>
              </a:rPr>
              <a:t>expires_at = now + N·min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0" y="3291840"/>
            <a:ext cx="39319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54880" y="3291840"/>
            <a:ext cx="82296" cy="1737360"/>
          </a:xfrm>
          <a:prstGeom prst="rect">
            <a:avLst/>
          </a:prstGeom>
          <a:solidFill>
            <a:srgbClr val="2E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47488" y="343814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4F3D"/>
                </a:solidFill>
                <a:latin typeface="Georgia"/>
              </a:rPr>
              <a:t>BaseActivity for locale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7488" y="3840480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61"/>
                </a:solidFill>
                <a:latin typeface="Segoe UI"/>
              </a:rPr>
              <a:t>Every activity extends BaseActivity, applying saved language (AR/EN) and notification settings on each onCreate.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47488" y="4572000"/>
            <a:ext cx="3346703" cy="329184"/>
          </a:xfrm>
          <a:prstGeom prst="roundRect">
            <a:avLst/>
          </a:prstGeom>
          <a:solidFill>
            <a:srgbClr val="1A2E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050" b="0" i="0">
                <a:solidFill>
                  <a:srgbClr val="D9B468"/>
                </a:solidFill>
                <a:latin typeface="Consolas"/>
              </a:rPr>
              <a:t>class X : BaseActivity()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4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Walkthrough</a:t>
            </a:r>
            <a:endParaRPr lang="en-US" sz="3400" dirty="0"/>
          </a:p>
        </p:txBody>
      </p:sp>
      <p:sp>
        <p:nvSpPr>
          <p:cNvPr id="43" name="Oval 42"/>
          <p:cNvSpPr/>
          <p:nvPr/>
        </p:nvSpPr>
        <p:spPr>
          <a:xfrm>
            <a:off x="8349615" y="348615"/>
            <a:ext cx="308609" cy="308609"/>
          </a:xfrm>
          <a:prstGeom prst="ellipse">
            <a:avLst/>
          </a:prstGeom>
          <a:noFill/>
          <a:ln w="28575">
            <a:solidFill>
              <a:srgbClr val="D9B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8429625" y="508634"/>
            <a:ext cx="51435" cy="51436"/>
          </a:xfrm>
          <a:prstGeom prst="line">
            <a:avLst/>
          </a:prstGeom>
          <a:ln w="3175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481060" y="440054"/>
            <a:ext cx="108585" cy="120016"/>
          </a:xfrm>
          <a:prstGeom prst="line">
            <a:avLst/>
          </a:prstGeom>
          <a:ln w="3175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40080" y="969264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93AFA1"/>
                </a:solidFill>
                <a:latin typeface="Segoe UI"/>
              </a:rPr>
              <a:t>Tap any feature to see it in the real app   </a:t>
            </a:r>
            <a:r>
              <a:rPr sz="1300" b="1" i="0">
                <a:solidFill>
                  <a:srgbClr val="D9B468"/>
                </a:solidFill>
                <a:latin typeface="Segoe UI"/>
              </a:rPr>
              <a:t>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1481328"/>
            <a:ext cx="3566160" cy="502920"/>
          </a:xfrm>
          <a:prstGeom prst="roundRect">
            <a:avLst/>
          </a:prstGeom>
          <a:solidFill>
            <a:srgbClr val="93A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 dirty="0">
                <a:solidFill>
                  <a:srgbClr val="2E4F3D"/>
                </a:solidFill>
                <a:latin typeface="Georgia"/>
              </a:rPr>
              <a:t>Student</a:t>
            </a:r>
          </a:p>
        </p:txBody>
      </p:sp>
      <p:sp>
        <p:nvSpPr>
          <p:cNvPr id="48" name="Rounded Rectangle 47">
            <a:hlinkClick r:id="rId3" action="ppaction://hlinksldjump"/>
          </p:cNvPr>
          <p:cNvSpPr/>
          <p:nvPr/>
        </p:nvSpPr>
        <p:spPr>
          <a:xfrm>
            <a:off x="640080" y="2240280"/>
            <a:ext cx="356616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0" bIns="0" rtlCol="0" anchor="ctr"/>
          <a:lstStyle/>
          <a:p>
            <a:pPr algn="l"/>
            <a:r>
              <a:rPr sz="1350" b="1" i="0">
                <a:solidFill>
                  <a:srgbClr val="1A2E23"/>
                </a:solidFill>
                <a:latin typeface="Segoe UI"/>
              </a:rPr>
              <a:t>Home · my courses</a:t>
            </a:r>
          </a:p>
        </p:txBody>
      </p:sp>
      <p:sp>
        <p:nvSpPr>
          <p:cNvPr id="49" name="TextBox 48">
            <a:hlinkClick r:id="rId3" action="ppaction://hlinksldjump"/>
          </p:cNvPr>
          <p:cNvSpPr txBox="1"/>
          <p:nvPr/>
        </p:nvSpPr>
        <p:spPr>
          <a:xfrm>
            <a:off x="3840479" y="2240280"/>
            <a:ext cx="29260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700" b="1" i="0">
                <a:solidFill>
                  <a:srgbClr val="D9B468"/>
                </a:solidFill>
                <a:latin typeface="Segoe UI"/>
              </a:rPr>
              <a:t>›</a:t>
            </a:r>
          </a:p>
        </p:txBody>
      </p:sp>
      <p:sp>
        <p:nvSpPr>
          <p:cNvPr id="50" name="Rounded Rectangle 49">
            <a:hlinkClick r:id="rId4" action="ppaction://hlinksldjump"/>
          </p:cNvPr>
          <p:cNvSpPr/>
          <p:nvPr/>
        </p:nvSpPr>
        <p:spPr>
          <a:xfrm>
            <a:off x="640080" y="2971800"/>
            <a:ext cx="356616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0" bIns="0" rtlCol="0" anchor="ctr"/>
          <a:lstStyle/>
          <a:p>
            <a:pPr algn="l"/>
            <a:r>
              <a:rPr sz="1350" b="1" i="0">
                <a:solidFill>
                  <a:srgbClr val="1A2E23"/>
                </a:solidFill>
                <a:latin typeface="Segoe UI"/>
              </a:rPr>
              <a:t>Mark attendance</a:t>
            </a:r>
          </a:p>
        </p:txBody>
      </p:sp>
      <p:sp>
        <p:nvSpPr>
          <p:cNvPr id="51" name="TextBox 50">
            <a:hlinkClick r:id="rId4" action="ppaction://hlinksldjump"/>
          </p:cNvPr>
          <p:cNvSpPr txBox="1"/>
          <p:nvPr/>
        </p:nvSpPr>
        <p:spPr>
          <a:xfrm>
            <a:off x="3840479" y="2971800"/>
            <a:ext cx="29260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700" b="1" i="0">
                <a:solidFill>
                  <a:srgbClr val="D9B468"/>
                </a:solidFill>
                <a:latin typeface="Segoe UI"/>
              </a:rPr>
              <a:t>›</a:t>
            </a:r>
          </a:p>
        </p:txBody>
      </p:sp>
      <p:sp>
        <p:nvSpPr>
          <p:cNvPr id="52" name="Rounded Rectangle 51">
            <a:hlinkClick r:id="rId5" action="ppaction://hlinksldjump"/>
          </p:cNvPr>
          <p:cNvSpPr/>
          <p:nvPr/>
        </p:nvSpPr>
        <p:spPr>
          <a:xfrm>
            <a:off x="640080" y="3703320"/>
            <a:ext cx="356616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0" bIns="0" rtlCol="0" anchor="ctr"/>
          <a:lstStyle/>
          <a:p>
            <a:pPr algn="l"/>
            <a:r>
              <a:rPr sz="1350" b="1" i="0">
                <a:solidFill>
                  <a:srgbClr val="1A2E23"/>
                </a:solidFill>
                <a:latin typeface="Segoe UI"/>
              </a:rPr>
              <a:t>My history</a:t>
            </a:r>
          </a:p>
        </p:txBody>
      </p:sp>
      <p:sp>
        <p:nvSpPr>
          <p:cNvPr id="53" name="TextBox 52">
            <a:hlinkClick r:id="rId5" action="ppaction://hlinksldjump"/>
          </p:cNvPr>
          <p:cNvSpPr txBox="1"/>
          <p:nvPr/>
        </p:nvSpPr>
        <p:spPr>
          <a:xfrm>
            <a:off x="3840479" y="3703320"/>
            <a:ext cx="29260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700" b="1" i="0">
                <a:solidFill>
                  <a:srgbClr val="D9B468"/>
                </a:solidFill>
                <a:latin typeface="Segoe UI"/>
              </a:rPr>
              <a:t>›</a:t>
            </a:r>
          </a:p>
        </p:txBody>
      </p:sp>
      <p:sp>
        <p:nvSpPr>
          <p:cNvPr id="54" name="Rounded Rectangle 53">
            <a:hlinkClick r:id="rId6" action="ppaction://hlinksldjump"/>
          </p:cNvPr>
          <p:cNvSpPr/>
          <p:nvPr/>
        </p:nvSpPr>
        <p:spPr>
          <a:xfrm>
            <a:off x="640080" y="4434840"/>
            <a:ext cx="356616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0" bIns="0" rtlCol="0" anchor="ctr"/>
          <a:lstStyle/>
          <a:p>
            <a:pPr algn="l"/>
            <a:r>
              <a:rPr sz="1350" b="1" i="0">
                <a:solidFill>
                  <a:srgbClr val="1A2E23"/>
                </a:solidFill>
                <a:latin typeface="Segoe UI"/>
              </a:rPr>
              <a:t>Settings</a:t>
            </a:r>
          </a:p>
        </p:txBody>
      </p:sp>
      <p:sp>
        <p:nvSpPr>
          <p:cNvPr id="55" name="TextBox 54">
            <a:hlinkClick r:id="rId6" action="ppaction://hlinksldjump"/>
          </p:cNvPr>
          <p:cNvSpPr txBox="1"/>
          <p:nvPr/>
        </p:nvSpPr>
        <p:spPr>
          <a:xfrm>
            <a:off x="3840479" y="4434840"/>
            <a:ext cx="29260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700" b="1" i="0">
                <a:solidFill>
                  <a:srgbClr val="D9B468"/>
                </a:solidFill>
                <a:latin typeface="Segoe UI"/>
              </a:rPr>
              <a:t>›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937760" y="1481328"/>
            <a:ext cx="3566160" cy="502920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 dirty="0">
                <a:solidFill>
                  <a:srgbClr val="2E4F3D"/>
                </a:solidFill>
                <a:latin typeface="Georgia"/>
              </a:rPr>
              <a:t>Instructor</a:t>
            </a:r>
          </a:p>
        </p:txBody>
      </p:sp>
      <p:sp>
        <p:nvSpPr>
          <p:cNvPr id="57" name="Rounded Rectangle 56">
            <a:hlinkClick r:id="rId7" action="ppaction://hlinksldjump"/>
          </p:cNvPr>
          <p:cNvSpPr/>
          <p:nvPr/>
        </p:nvSpPr>
        <p:spPr>
          <a:xfrm>
            <a:off x="4937760" y="2240280"/>
            <a:ext cx="356616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0" bIns="0" rtlCol="0" anchor="ctr"/>
          <a:lstStyle/>
          <a:p>
            <a:pPr algn="l"/>
            <a:r>
              <a:rPr sz="1350" b="1" i="0">
                <a:solidFill>
                  <a:srgbClr val="1A2E23"/>
                </a:solidFill>
                <a:latin typeface="Segoe UI"/>
              </a:rPr>
              <a:t>Home · my classes</a:t>
            </a:r>
          </a:p>
        </p:txBody>
      </p:sp>
      <p:sp>
        <p:nvSpPr>
          <p:cNvPr id="58" name="TextBox 57">
            <a:hlinkClick r:id="rId7" action="ppaction://hlinksldjump"/>
          </p:cNvPr>
          <p:cNvSpPr txBox="1"/>
          <p:nvPr/>
        </p:nvSpPr>
        <p:spPr>
          <a:xfrm>
            <a:off x="8138160" y="2240280"/>
            <a:ext cx="29260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700" b="1" i="0">
                <a:solidFill>
                  <a:srgbClr val="D9B468"/>
                </a:solidFill>
                <a:latin typeface="Segoe UI"/>
              </a:rPr>
              <a:t>›</a:t>
            </a:r>
          </a:p>
        </p:txBody>
      </p:sp>
      <p:sp>
        <p:nvSpPr>
          <p:cNvPr id="59" name="Rounded Rectangle 58">
            <a:hlinkClick r:id="rId8" action="ppaction://hlinksldjump"/>
          </p:cNvPr>
          <p:cNvSpPr/>
          <p:nvPr/>
        </p:nvSpPr>
        <p:spPr>
          <a:xfrm>
            <a:off x="4937760" y="2971800"/>
            <a:ext cx="356616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0" bIns="0" rtlCol="0" anchor="ctr"/>
          <a:lstStyle/>
          <a:p>
            <a:pPr algn="l"/>
            <a:r>
              <a:rPr sz="1350" b="1" i="0">
                <a:solidFill>
                  <a:srgbClr val="1A2E23"/>
                </a:solidFill>
                <a:latin typeface="Segoe UI"/>
              </a:rPr>
              <a:t>Take attendance</a:t>
            </a:r>
          </a:p>
        </p:txBody>
      </p:sp>
      <p:sp>
        <p:nvSpPr>
          <p:cNvPr id="60" name="TextBox 59">
            <a:hlinkClick r:id="rId8" action="ppaction://hlinksldjump"/>
          </p:cNvPr>
          <p:cNvSpPr txBox="1"/>
          <p:nvPr/>
        </p:nvSpPr>
        <p:spPr>
          <a:xfrm>
            <a:off x="8138160" y="2971800"/>
            <a:ext cx="29260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700" b="1" i="0">
                <a:solidFill>
                  <a:srgbClr val="D9B468"/>
                </a:solidFill>
                <a:latin typeface="Segoe UI"/>
              </a:rPr>
              <a:t>›</a:t>
            </a:r>
          </a:p>
        </p:txBody>
      </p:sp>
      <p:sp>
        <p:nvSpPr>
          <p:cNvPr id="61" name="Rounded Rectangle 60">
            <a:hlinkClick r:id="rId9" action="ppaction://hlinksldjump"/>
          </p:cNvPr>
          <p:cNvSpPr/>
          <p:nvPr/>
        </p:nvSpPr>
        <p:spPr>
          <a:xfrm>
            <a:off x="4937760" y="3703320"/>
            <a:ext cx="356616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0" bIns="0" rtlCol="0" anchor="ctr"/>
          <a:lstStyle/>
          <a:p>
            <a:pPr algn="l"/>
            <a:r>
              <a:rPr sz="1350" b="1" i="0">
                <a:solidFill>
                  <a:srgbClr val="1A2E23"/>
                </a:solidFill>
                <a:latin typeface="Segoe UI"/>
              </a:rPr>
              <a:t>Session history</a:t>
            </a:r>
          </a:p>
        </p:txBody>
      </p:sp>
      <p:sp>
        <p:nvSpPr>
          <p:cNvPr id="62" name="TextBox 61">
            <a:hlinkClick r:id="rId9" action="ppaction://hlinksldjump"/>
          </p:cNvPr>
          <p:cNvSpPr txBox="1"/>
          <p:nvPr/>
        </p:nvSpPr>
        <p:spPr>
          <a:xfrm>
            <a:off x="8138160" y="3703320"/>
            <a:ext cx="29260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700" b="1" i="0">
                <a:solidFill>
                  <a:srgbClr val="D9B468"/>
                </a:solidFill>
                <a:latin typeface="Segoe UI"/>
              </a:rPr>
              <a:t>›</a:t>
            </a:r>
          </a:p>
        </p:txBody>
      </p:sp>
      <p:sp>
        <p:nvSpPr>
          <p:cNvPr id="63" name="Rounded Rectangle 62">
            <a:hlinkClick r:id="rId10" action="ppaction://hlinksldjump"/>
          </p:cNvPr>
          <p:cNvSpPr/>
          <p:nvPr/>
        </p:nvSpPr>
        <p:spPr>
          <a:xfrm>
            <a:off x="4937760" y="4434840"/>
            <a:ext cx="356616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0" bIns="0" rtlCol="0" anchor="ctr"/>
          <a:lstStyle/>
          <a:p>
            <a:pPr algn="l"/>
            <a:r>
              <a:rPr sz="1350" b="1" i="0">
                <a:solidFill>
                  <a:srgbClr val="1A2E23"/>
                </a:solidFill>
                <a:latin typeface="Segoe UI"/>
              </a:rPr>
              <a:t>Settings</a:t>
            </a:r>
          </a:p>
        </p:txBody>
      </p:sp>
      <p:sp>
        <p:nvSpPr>
          <p:cNvPr id="64" name="TextBox 63">
            <a:hlinkClick r:id="rId10" action="ppaction://hlinksldjump"/>
          </p:cNvPr>
          <p:cNvSpPr txBox="1"/>
          <p:nvPr/>
        </p:nvSpPr>
        <p:spPr>
          <a:xfrm>
            <a:off x="8138160" y="4434840"/>
            <a:ext cx="29260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700" b="1" i="0">
                <a:solidFill>
                  <a:srgbClr val="D9B468"/>
                </a:solidFill>
                <a:latin typeface="Segoe UI"/>
              </a:rPr>
              <a:t>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Georgia"/>
              </a:rPr>
              <a:t>Student ·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6583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D9E4DD"/>
                </a:solidFill>
                <a:latin typeface="Segoe UI"/>
              </a:rPr>
              <a:t>See enrolled courses and pick one to act 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269480" y="256032"/>
            <a:ext cx="1508760" cy="402336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1A2E23"/>
                </a:solidFill>
                <a:latin typeface="Segoe UI"/>
              </a:rPr>
              <a:t>‹  Back to map</a:t>
            </a:r>
          </a:p>
        </p:txBody>
      </p:sp>
      <p:pic>
        <p:nvPicPr>
          <p:cNvPr id="6" name="Picture 5" descr="03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904" y="1188720"/>
            <a:ext cx="1522476" cy="3383280"/>
          </a:xfrm>
          <a:prstGeom prst="rect">
            <a:avLst/>
          </a:prstGeom>
        </p:spPr>
      </p:pic>
      <p:pic>
        <p:nvPicPr>
          <p:cNvPr id="7" name="Picture 6" descr="04_home_course_sele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1188720"/>
            <a:ext cx="1522476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530602" y="4645152"/>
            <a:ext cx="178308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2E4F3D"/>
                </a:solidFill>
                <a:latin typeface="Segoe UI"/>
              </a:rPr>
              <a:t>Your enrolled courses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30318" y="4645152"/>
            <a:ext cx="178308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2E4F3D"/>
                </a:solidFill>
                <a:latin typeface="Segoe UI"/>
              </a:rPr>
              <a:t>Tap a course to select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Georgia"/>
              </a:rPr>
              <a:t>Student · Mark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6583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D9E4DD"/>
                </a:solidFill>
                <a:latin typeface="Segoe UI"/>
              </a:rPr>
              <a:t>Enter the instructor's code to record your presence.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269480" y="256032"/>
            <a:ext cx="1508760" cy="402336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1A2E23"/>
                </a:solidFill>
                <a:latin typeface="Segoe UI"/>
              </a:rPr>
              <a:t>‹  Back to map</a:t>
            </a:r>
          </a:p>
        </p:txBody>
      </p:sp>
      <p:pic>
        <p:nvPicPr>
          <p:cNvPr id="6" name="Picture 5" descr="05_mark_attend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086" y="1188720"/>
            <a:ext cx="1522476" cy="3383280"/>
          </a:xfrm>
          <a:prstGeom prst="rect">
            <a:avLst/>
          </a:prstGeom>
        </p:spPr>
      </p:pic>
      <p:pic>
        <p:nvPicPr>
          <p:cNvPr id="7" name="Picture 6" descr="06_code_ente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762" y="1188720"/>
            <a:ext cx="1522476" cy="3383280"/>
          </a:xfrm>
          <a:prstGeom prst="rect">
            <a:avLst/>
          </a:prstGeom>
        </p:spPr>
      </p:pic>
      <p:pic>
        <p:nvPicPr>
          <p:cNvPr id="8" name="Picture 7" descr="07_attendance_submit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0438" y="1188720"/>
            <a:ext cx="1522476" cy="3383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700784" y="4645152"/>
            <a:ext cx="178308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2E4F3D"/>
                </a:solidFill>
                <a:latin typeface="Segoe UI"/>
              </a:rPr>
              <a:t>1 · Open Mark Attendance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0460" y="4645152"/>
            <a:ext cx="178308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2E4F3D"/>
                </a:solidFill>
                <a:latin typeface="Segoe UI"/>
              </a:rPr>
              <a:t>2 · Enter the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0136" y="4645152"/>
            <a:ext cx="178308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2E4F3D"/>
                </a:solidFill>
                <a:latin typeface="Segoe UI"/>
              </a:rPr>
              <a:t>3 · ✓ Marked Present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Georgia"/>
              </a:rPr>
              <a:t>Student · My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6583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D9E4DD"/>
                </a:solidFill>
                <a:latin typeface="Segoe UI"/>
              </a:rPr>
              <a:t>Track your attendance across every course.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269480" y="256032"/>
            <a:ext cx="1508760" cy="402336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1A2E23"/>
                </a:solidFill>
                <a:latin typeface="Segoe UI"/>
              </a:rPr>
              <a:t>‹  Back to map</a:t>
            </a:r>
          </a:p>
        </p:txBody>
      </p:sp>
      <p:pic>
        <p:nvPicPr>
          <p:cNvPr id="6" name="Picture 5" descr="08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188720"/>
            <a:ext cx="1666494" cy="3703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91840" y="1417320"/>
            <a:ext cx="146304" cy="146304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2736" y="1271016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A2E23"/>
                </a:solidFill>
                <a:latin typeface="Segoe UI"/>
              </a:rPr>
              <a:t>Present / Late / Absent summary chips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075688"/>
            <a:ext cx="146304" cy="146304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02736" y="1929384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A2E23"/>
                </a:solidFill>
                <a:latin typeface="Segoe UI"/>
              </a:rPr>
              <a:t>Per-course session list with 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734056"/>
            <a:ext cx="146304" cy="146304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02736" y="2587752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A2E23"/>
                </a:solidFill>
                <a:latin typeface="Segoe UI"/>
              </a:rPr>
              <a:t>Color-coded status — P / L /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392424"/>
            <a:ext cx="146304" cy="146304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02736" y="324612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A2E23"/>
                </a:solidFill>
                <a:latin typeface="Segoe UI"/>
              </a:rPr>
              <a:t>Updates the moment you're marked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Georgia"/>
              </a:rPr>
              <a:t>Student ·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6583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D9E4DD"/>
                </a:solidFill>
                <a:latin typeface="Segoe UI"/>
              </a:rPr>
              <a:t>Personalise the app and manage your account.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269480" y="256032"/>
            <a:ext cx="1508760" cy="402336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1A2E23"/>
                </a:solidFill>
                <a:latin typeface="Segoe UI"/>
              </a:rPr>
              <a:t>‹  Back to map</a:t>
            </a:r>
          </a:p>
        </p:txBody>
      </p:sp>
      <p:pic>
        <p:nvPicPr>
          <p:cNvPr id="6" name="Picture 5" descr="09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188720"/>
            <a:ext cx="1666494" cy="3703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91840" y="1417320"/>
            <a:ext cx="146304" cy="146304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2736" y="1271016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A2E23"/>
                </a:solidFill>
                <a:latin typeface="Segoe UI"/>
              </a:rPr>
              <a:t>Profile card with name &amp; role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075688"/>
            <a:ext cx="146304" cy="146304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02736" y="1929384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A2E23"/>
                </a:solidFill>
                <a:latin typeface="Segoe UI"/>
              </a:rPr>
              <a:t>Light / Dark theme toggle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734056"/>
            <a:ext cx="146304" cy="146304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02736" y="2587752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A2E23"/>
                </a:solidFill>
                <a:latin typeface="Segoe UI"/>
              </a:rPr>
              <a:t>Language switch: English / العربية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392424"/>
            <a:ext cx="146304" cy="146304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02736" y="324612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A2E23"/>
                </a:solidFill>
                <a:latin typeface="Segoe UI"/>
              </a:rPr>
              <a:t>Notifications on / 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4050791"/>
            <a:ext cx="146304" cy="146304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02736" y="3904487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A2E23"/>
                </a:solidFill>
                <a:latin typeface="Segoe UI"/>
              </a:rPr>
              <a:t>Secure logout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Georgia"/>
              </a:rPr>
              <a:t>Instructor ·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6583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D9E4DD"/>
                </a:solidFill>
                <a:latin typeface="Segoe UI"/>
              </a:rPr>
              <a:t>See the classes you teach and pick a section.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269480" y="256032"/>
            <a:ext cx="1508760" cy="402336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1A2E23"/>
                </a:solidFill>
                <a:latin typeface="Segoe UI"/>
              </a:rPr>
              <a:t>‹  Back to map</a:t>
            </a:r>
          </a:p>
        </p:txBody>
      </p:sp>
      <p:pic>
        <p:nvPicPr>
          <p:cNvPr id="6" name="Picture 5" descr="03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904" y="1188720"/>
            <a:ext cx="1522476" cy="3383280"/>
          </a:xfrm>
          <a:prstGeom prst="rect">
            <a:avLst/>
          </a:prstGeom>
        </p:spPr>
      </p:pic>
      <p:pic>
        <p:nvPicPr>
          <p:cNvPr id="7" name="Picture 6" descr="04_home_class_sele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1188720"/>
            <a:ext cx="1522476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530602" y="4645152"/>
            <a:ext cx="178308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2E4F3D"/>
                </a:solidFill>
                <a:latin typeface="Segoe UI"/>
              </a:rPr>
              <a:t>Classes you teach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30318" y="4645152"/>
            <a:ext cx="178308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2E4F3D"/>
                </a:solidFill>
                <a:latin typeface="Segoe UI"/>
              </a:rPr>
              <a:t>Tap a class to select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Georgia"/>
              </a:rPr>
              <a:t>Instructor · Take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6583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D9E4DD"/>
                </a:solidFill>
                <a:latin typeface="Segoe UI"/>
              </a:rPr>
              <a:t>Pick a duration, generate a code, share the live countdown.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269480" y="256032"/>
            <a:ext cx="1508760" cy="402336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1A2E23"/>
                </a:solidFill>
                <a:latin typeface="Segoe UI"/>
              </a:rPr>
              <a:t>‹  Back to map</a:t>
            </a:r>
          </a:p>
        </p:txBody>
      </p:sp>
      <p:pic>
        <p:nvPicPr>
          <p:cNvPr id="6" name="Picture 5" descr="05_take_attend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086" y="1188720"/>
            <a:ext cx="1522476" cy="3383280"/>
          </a:xfrm>
          <a:prstGeom prst="rect">
            <a:avLst/>
          </a:prstGeom>
        </p:spPr>
      </p:pic>
      <p:pic>
        <p:nvPicPr>
          <p:cNvPr id="7" name="Picture 6" descr="07_duration_s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762" y="1188720"/>
            <a:ext cx="1522476" cy="3383280"/>
          </a:xfrm>
          <a:prstGeom prst="rect">
            <a:avLst/>
          </a:prstGeom>
        </p:spPr>
      </p:pic>
      <p:pic>
        <p:nvPicPr>
          <p:cNvPr id="8" name="Picture 7" descr="08_session_ac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0438" y="1188720"/>
            <a:ext cx="1522476" cy="3383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700784" y="4645152"/>
            <a:ext cx="178308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2E4F3D"/>
                </a:solidFill>
                <a:latin typeface="Segoe UI"/>
              </a:rPr>
              <a:t>1 · Open Take Attendance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0460" y="4645152"/>
            <a:ext cx="178308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2E4F3D"/>
                </a:solidFill>
                <a:latin typeface="Segoe UI"/>
              </a:rPr>
              <a:t>2 · Choose duration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0136" y="4645152"/>
            <a:ext cx="178308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2E4F3D"/>
                </a:solidFill>
                <a:latin typeface="Segoe UI"/>
              </a:rPr>
              <a:t>3 · Share the live 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Georgia"/>
              </a:rPr>
              <a:t>Instructor · Session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6583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D9E4DD"/>
                </a:solidFill>
                <a:latin typeface="Segoe UI"/>
              </a:rPr>
              <a:t>See who's Present, Late, or Absent per session.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269480" y="256032"/>
            <a:ext cx="1508760" cy="402336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1A2E23"/>
                </a:solidFill>
                <a:latin typeface="Segoe UI"/>
              </a:rPr>
              <a:t>‹  Back to map</a:t>
            </a:r>
          </a:p>
        </p:txBody>
      </p:sp>
      <p:pic>
        <p:nvPicPr>
          <p:cNvPr id="6" name="Picture 5" descr="09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904" y="1188720"/>
            <a:ext cx="1522476" cy="3383280"/>
          </a:xfrm>
          <a:prstGeom prst="rect">
            <a:avLst/>
          </a:prstGeom>
        </p:spPr>
      </p:pic>
      <p:pic>
        <p:nvPicPr>
          <p:cNvPr id="7" name="Picture 6" descr="12_history_after_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1188720"/>
            <a:ext cx="1522476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530602" y="4645152"/>
            <a:ext cx="178308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2E4F3D"/>
                </a:solidFill>
                <a:latin typeface="Segoe UI"/>
              </a:rPr>
              <a:t>All sessions, with P/L/A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30318" y="4645152"/>
            <a:ext cx="178308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2E4F3D"/>
                </a:solidFill>
                <a:latin typeface="Segoe UI"/>
              </a:rPr>
              <a:t>Tap a session → full roster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Georgia"/>
              </a:rPr>
              <a:t>Instructor ·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6583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D9E4DD"/>
                </a:solidFill>
                <a:latin typeface="Segoe UI"/>
              </a:rPr>
              <a:t>Personalise the app and manage your account.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269480" y="256032"/>
            <a:ext cx="1508760" cy="402336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1A2E23"/>
                </a:solidFill>
                <a:latin typeface="Segoe UI"/>
              </a:rPr>
              <a:t>‹  Back to map</a:t>
            </a:r>
          </a:p>
        </p:txBody>
      </p:sp>
      <p:pic>
        <p:nvPicPr>
          <p:cNvPr id="6" name="Picture 5" descr="10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904" y="1188720"/>
            <a:ext cx="1522476" cy="3383280"/>
          </a:xfrm>
          <a:prstGeom prst="rect">
            <a:avLst/>
          </a:prstGeom>
        </p:spPr>
      </p:pic>
      <p:pic>
        <p:nvPicPr>
          <p:cNvPr id="7" name="Picture 6" descr="11_about_ap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1188720"/>
            <a:ext cx="1522476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530602" y="4645152"/>
            <a:ext cx="178308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2E4F3D"/>
                </a:solidFill>
                <a:latin typeface="Segoe UI"/>
              </a:rPr>
              <a:t>Profile · theme ·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30318" y="4645152"/>
            <a:ext cx="178308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2E4F3D"/>
                </a:solidFill>
                <a:latin typeface="Segoe UI"/>
              </a:rPr>
              <a:t>About AMS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4F3D"/>
          </a:solidFill>
          <a:ln w="12700">
            <a:solidFill>
              <a:srgbClr val="2E4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Learned</a:t>
            </a:r>
            <a:endParaRPr lang="en-US" sz="3200" dirty="0"/>
          </a:p>
        </p:txBody>
      </p:sp>
      <p:sp>
        <p:nvSpPr>
          <p:cNvPr id="18" name="Oval 17"/>
          <p:cNvSpPr/>
          <p:nvPr/>
        </p:nvSpPr>
        <p:spPr>
          <a:xfrm>
            <a:off x="8349615" y="348615"/>
            <a:ext cx="308609" cy="308609"/>
          </a:xfrm>
          <a:prstGeom prst="ellipse">
            <a:avLst/>
          </a:prstGeom>
          <a:noFill/>
          <a:ln w="28575">
            <a:solidFill>
              <a:srgbClr val="D9B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8429625" y="508634"/>
            <a:ext cx="51435" cy="51436"/>
          </a:xfrm>
          <a:prstGeom prst="line">
            <a:avLst/>
          </a:prstGeom>
          <a:ln w="3175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481060" y="440054"/>
            <a:ext cx="108585" cy="120016"/>
          </a:xfrm>
          <a:prstGeom prst="line">
            <a:avLst/>
          </a:prstGeom>
          <a:ln w="3175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" y="1481328"/>
            <a:ext cx="1417320" cy="457200"/>
          </a:xfrm>
          <a:prstGeom prst="roundRect">
            <a:avLst/>
          </a:prstGeom>
          <a:solidFill>
            <a:srgbClr val="1D6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1481328"/>
            <a:ext cx="6446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A2E23"/>
                </a:solidFill>
                <a:latin typeface="Segoe UI"/>
              </a:rPr>
              <a:t>ORDS wraps everything in a {body} envelope — raw JSON parsing was essential; Retrofit's Gson alone wasn't enough.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176272"/>
            <a:ext cx="141732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2176272"/>
            <a:ext cx="6446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A2E23"/>
                </a:solidFill>
                <a:latin typeface="Segoe UI"/>
              </a:rPr>
              <a:t>SYSTIMESTAMP (UTC) vs device time caused silent bugs — always normalise to UTC before comparing.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871215"/>
            <a:ext cx="1417320" cy="457200"/>
          </a:xfrm>
          <a:prstGeom prst="roundRect">
            <a:avLst/>
          </a:prstGeom>
          <a:solidFill>
            <a:srgbClr val="7C4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2871215"/>
            <a:ext cx="6446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A2E23"/>
                </a:solidFill>
                <a:latin typeface="Segoe UI"/>
              </a:rPr>
              <a:t>A shared BaseActivity removed repetition across 10+ activities and made language switching seamless.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566159"/>
            <a:ext cx="1417320" cy="457200"/>
          </a:xfrm>
          <a:prstGeom prst="roundRect">
            <a:avLst/>
          </a:prstGeom>
          <a:solidFill>
            <a:srgbClr val="2E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UX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566159"/>
            <a:ext cx="6446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A2E23"/>
                </a:solidFill>
                <a:latin typeface="Segoe UI"/>
              </a:rPr>
              <a:t>Separating validate from mark gave instant feedback before the record was committed to the DB.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61103"/>
            <a:ext cx="1417320" cy="457200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A2E23"/>
                </a:solidFill>
                <a:latin typeface="Segoe UI"/>
              </a:rPr>
              <a:t>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4261103"/>
            <a:ext cx="6446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A2E23"/>
                </a:solidFill>
                <a:latin typeface="Segoe UI"/>
              </a:rPr>
              <a:t>Designing for two roles from day one kept navigation clear and API endpoints focused.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4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Plan</a:t>
            </a:r>
            <a:endParaRPr lang="en-US" sz="3400" dirty="0"/>
          </a:p>
        </p:txBody>
      </p:sp>
      <p:sp>
        <p:nvSpPr>
          <p:cNvPr id="19" name="Oval 18"/>
          <p:cNvSpPr/>
          <p:nvPr/>
        </p:nvSpPr>
        <p:spPr>
          <a:xfrm>
            <a:off x="8349615" y="348615"/>
            <a:ext cx="308609" cy="308609"/>
          </a:xfrm>
          <a:prstGeom prst="ellipse">
            <a:avLst/>
          </a:prstGeom>
          <a:noFill/>
          <a:ln w="28575">
            <a:solidFill>
              <a:srgbClr val="D9B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8429625" y="508634"/>
            <a:ext cx="51435" cy="51436"/>
          </a:xfrm>
          <a:prstGeom prst="line">
            <a:avLst/>
          </a:prstGeom>
          <a:ln w="3175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481060" y="440054"/>
            <a:ext cx="108585" cy="120016"/>
          </a:xfrm>
          <a:prstGeom prst="line">
            <a:avLst/>
          </a:prstGeom>
          <a:ln w="3175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107899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1">
                <a:solidFill>
                  <a:srgbClr val="D9E4DD"/>
                </a:solidFill>
                <a:latin typeface="Segoe UI"/>
              </a:rPr>
              <a:t>From working prototype to production — in four phases.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15568" y="1810512"/>
            <a:ext cx="6912864" cy="45720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05256" y="1618488"/>
            <a:ext cx="420624" cy="420624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1A2E23"/>
                </a:solidFill>
                <a:latin typeface="Segoe UI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" y="2240280"/>
            <a:ext cx="1938528" cy="2331720"/>
          </a:xfrm>
          <a:prstGeom prst="roundRect">
            <a:avLst/>
          </a:prstGeom>
          <a:solidFill>
            <a:srgbClr val="3A5C49"/>
          </a:solidFill>
          <a:ln w="12700">
            <a:solidFill>
              <a:srgbClr val="527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46304" y="2240280"/>
            <a:ext cx="1938528" cy="64008"/>
          </a:xfrm>
          <a:prstGeom prst="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3464" y="2404872"/>
            <a:ext cx="1664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D9B468"/>
                </a:solidFill>
                <a:latin typeface="Segoe UI"/>
              </a:rPr>
              <a:t>PHASE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" y="2697480"/>
            <a:ext cx="16642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Georgia"/>
              </a:rPr>
              <a:t>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" y="3081528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9B468"/>
                </a:solidFill>
                <a:latin typeface="Segoe UI"/>
              </a:rPr>
              <a:t>Hashed passwords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" y="3447288"/>
            <a:ext cx="166420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D9E4DD"/>
                </a:solidFill>
                <a:latin typeface="Segoe UI"/>
              </a:rPr>
              <a:t>Replace plaintext with Bcrypt / SHA-256 — the first hardening step.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9544" y="1618488"/>
            <a:ext cx="420624" cy="420624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1A2E23"/>
                </a:solidFill>
                <a:latin typeface="Segoe UI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50592" y="2240280"/>
            <a:ext cx="1938528" cy="2331720"/>
          </a:xfrm>
          <a:prstGeom prst="roundRect">
            <a:avLst/>
          </a:prstGeom>
          <a:solidFill>
            <a:srgbClr val="3A5C49"/>
          </a:solidFill>
          <a:ln w="12700">
            <a:solidFill>
              <a:srgbClr val="527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450592" y="2240280"/>
            <a:ext cx="1938528" cy="64008"/>
          </a:xfrm>
          <a:prstGeom prst="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87752" y="2404872"/>
            <a:ext cx="1664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D9B468"/>
                </a:solidFill>
                <a:latin typeface="Segoe UI"/>
              </a:rPr>
              <a:t>PHASE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87752" y="2697480"/>
            <a:ext cx="16642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Georgia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87752" y="3081528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9B468"/>
                </a:solidFill>
                <a:latin typeface="Segoe UI"/>
              </a:rPr>
              <a:t>QR code check-in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87752" y="3447288"/>
            <a:ext cx="166420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D9E4DD"/>
                </a:solidFill>
                <a:latin typeface="Segoe UI"/>
              </a:rPr>
              <a:t>Scan instead of typing — faster and less error-prone.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13831" y="1618488"/>
            <a:ext cx="420624" cy="420624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1A2E23"/>
                </a:solidFill>
                <a:latin typeface="Segoe UI"/>
              </a:rP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4879" y="2240280"/>
            <a:ext cx="1938528" cy="2331720"/>
          </a:xfrm>
          <a:prstGeom prst="roundRect">
            <a:avLst/>
          </a:prstGeom>
          <a:solidFill>
            <a:srgbClr val="3A5C49"/>
          </a:solidFill>
          <a:ln w="12700">
            <a:solidFill>
              <a:srgbClr val="527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754879" y="2240280"/>
            <a:ext cx="1938528" cy="64008"/>
          </a:xfrm>
          <a:prstGeom prst="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92040" y="2404872"/>
            <a:ext cx="1664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D9B468"/>
                </a:solidFill>
                <a:latin typeface="Segoe UI"/>
              </a:rPr>
              <a:t>PHASE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2697480"/>
            <a:ext cx="16642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Georgia"/>
              </a:rPr>
              <a:t>Engagement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3081528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9B468"/>
                </a:solidFill>
                <a:latin typeface="Segoe UI"/>
              </a:rPr>
              <a:t>Push notifications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2040" y="3447288"/>
            <a:ext cx="166420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D9E4DD"/>
                </a:solidFill>
                <a:latin typeface="Segoe UI"/>
              </a:rPr>
              <a:t>Alert students when a session opens; warn instructors on low turnout.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18120" y="1618488"/>
            <a:ext cx="420624" cy="420624"/>
          </a:xfrm>
          <a:prstGeom prst="round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1A2E23"/>
                </a:solidFill>
                <a:latin typeface="Segoe UI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59168" y="2240280"/>
            <a:ext cx="1938528" cy="2331720"/>
          </a:xfrm>
          <a:prstGeom prst="roundRect">
            <a:avLst/>
          </a:prstGeom>
          <a:solidFill>
            <a:srgbClr val="3A5C49"/>
          </a:solidFill>
          <a:ln w="12700">
            <a:solidFill>
              <a:srgbClr val="527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059168" y="2240280"/>
            <a:ext cx="1938528" cy="64008"/>
          </a:xfrm>
          <a:prstGeom prst="rect">
            <a:avLst/>
          </a:prstGeom>
          <a:solidFill>
            <a:srgbClr val="D9B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196328" y="2404872"/>
            <a:ext cx="1664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D9B468"/>
                </a:solidFill>
                <a:latin typeface="Segoe UI"/>
              </a:rPr>
              <a:t>PHASE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96328" y="2697480"/>
            <a:ext cx="16642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Georgia"/>
              </a:rPr>
              <a:t>Insight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96328" y="3081528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9B468"/>
                </a:solidFill>
                <a:latin typeface="Segoe UI"/>
              </a:rPr>
              <a:t>Analytics dashboard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96328" y="3447288"/>
            <a:ext cx="166420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D9E4DD"/>
                </a:solidFill>
                <a:latin typeface="Segoe UI"/>
              </a:rPr>
              <a:t>Trends per student / course / week to flag at-risk students early.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4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3D6B53">
              <a:alpha val="35000"/>
            </a:srgbClr>
          </a:solidFill>
          <a:ln w="12700">
            <a:solidFill>
              <a:srgbClr val="3D6B5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2743200"/>
            <a:ext cx="3657600" cy="3657600"/>
          </a:xfrm>
          <a:prstGeom prst="ellipse">
            <a:avLst/>
          </a:prstGeom>
          <a:solidFill>
            <a:srgbClr val="3D6B53">
              <a:alpha val="30000"/>
            </a:srgbClr>
          </a:solidFill>
          <a:ln w="12700">
            <a:solidFill>
              <a:srgbClr val="3D6B5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2743200" cy="45720"/>
          </a:xfrm>
          <a:prstGeom prst="rect">
            <a:avLst/>
          </a:prstGeom>
          <a:solidFill>
            <a:srgbClr val="D9B468"/>
          </a:solidFill>
          <a:ln w="12700">
            <a:solidFill>
              <a:srgbClr val="D9B4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9C6B5"/>
                </a:solidFill>
              </a:rPr>
              <a:t>AMS · Attendance Management System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9C6B5"/>
                </a:solidFill>
              </a:rPr>
              <a:t>Built with  Kotlin  ·  Oracle ORDS  ·  PL/SQL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B468"/>
                </a:solidFill>
              </a:rPr>
              <a:t>Questions?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Abdulaziz Othman   ·   Ali Almejalli   ·   Alwaleed Alghamdi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5371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 i="1">
                <a:solidFill>
                  <a:srgbClr val="D9E4DD"/>
                </a:solidFill>
                <a:latin typeface="Segoe UI"/>
              </a:rPr>
              <a:t>Supervised by Dr. Nashwan Alromema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001BA06-472F-2EA0-8414-F361B79436B5}"/>
              </a:ext>
            </a:extLst>
          </p:cNvPr>
          <p:cNvGrpSpPr/>
          <p:nvPr/>
        </p:nvGrpSpPr>
        <p:grpSpPr>
          <a:xfrm>
            <a:off x="4114800" y="194337"/>
            <a:ext cx="888704" cy="845765"/>
            <a:chOff x="8349615" y="348615"/>
            <a:chExt cx="308609" cy="308609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B193738-9BA6-8451-BFC0-9E0F52CBCE7B}"/>
                </a:ext>
              </a:extLst>
            </p:cNvPr>
            <p:cNvSpPr/>
            <p:nvPr/>
          </p:nvSpPr>
          <p:spPr>
            <a:xfrm>
              <a:off x="8349615" y="348615"/>
              <a:ext cx="308609" cy="308609"/>
            </a:xfrm>
            <a:prstGeom prst="ellipse">
              <a:avLst/>
            </a:prstGeom>
            <a:noFill/>
            <a:ln w="28575">
              <a:solidFill>
                <a:srgbClr val="D9B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3" name="Connector 24">
              <a:extLst>
                <a:ext uri="{FF2B5EF4-FFF2-40B4-BE49-F238E27FC236}">
                  <a16:creationId xmlns:a16="http://schemas.microsoft.com/office/drawing/2014/main" id="{5086FE45-33A5-E157-BAF2-545F3C24C37B}"/>
                </a:ext>
              </a:extLst>
            </p:cNvPr>
            <p:cNvCxnSpPr/>
            <p:nvPr/>
          </p:nvCxnSpPr>
          <p:spPr>
            <a:xfrm>
              <a:off x="8429625" y="508634"/>
              <a:ext cx="51435" cy="51436"/>
            </a:xfrm>
            <a:prstGeom prst="line">
              <a:avLst/>
            </a:prstGeom>
            <a:ln w="31750" cap="rnd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25">
              <a:extLst>
                <a:ext uri="{FF2B5EF4-FFF2-40B4-BE49-F238E27FC236}">
                  <a16:creationId xmlns:a16="http://schemas.microsoft.com/office/drawing/2014/main" id="{19257B14-AF20-AC7C-45E1-CB28B62B78FA}"/>
                </a:ext>
              </a:extLst>
            </p:cNvPr>
            <p:cNvCxnSpPr/>
            <p:nvPr/>
          </p:nvCxnSpPr>
          <p:spPr>
            <a:xfrm flipV="1">
              <a:off x="8481060" y="440054"/>
              <a:ext cx="108585" cy="120016"/>
            </a:xfrm>
            <a:prstGeom prst="line">
              <a:avLst/>
            </a:prstGeom>
            <a:ln w="31750" cap="rnd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676</TotalTime>
  <Words>933</Words>
  <Application>Microsoft Office PowerPoint</Application>
  <PresentationFormat>On-screen Show (16:9)</PresentationFormat>
  <Paragraphs>175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Consolas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— Attendance Management System</dc:title>
  <dc:subject>PptxGenJS Presentation</dc:subject>
  <dc:creator>PptxGenJS</dc:creator>
  <cp:lastModifiedBy>ABDULAZIZ MOHAMMED ABDULRHMAN OTHMAN</cp:lastModifiedBy>
  <cp:revision>7</cp:revision>
  <dcterms:created xsi:type="dcterms:W3CDTF">2026-06-07T17:22:51Z</dcterms:created>
  <dcterms:modified xsi:type="dcterms:W3CDTF">2026-06-17T18:42:02Z</dcterms:modified>
</cp:coreProperties>
</file>