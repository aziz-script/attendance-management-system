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463040"/>
            <a:ext cx="4206240" cy="4206240"/>
          </a:xfrm>
          <a:prstGeom prst="ellipse">
            <a:avLst/>
          </a:prstGeom>
          <a:solidFill>
            <a:srgbClr val="3C64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3017520"/>
            <a:ext cx="2926080" cy="2926080"/>
          </a:xfrm>
          <a:prstGeom prst="ellipse">
            <a:avLst/>
          </a:prstGeom>
          <a:solidFill>
            <a:srgbClr val="2E4F3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914400" cy="914400"/>
          </a:xfrm>
          <a:prstGeom prst="ellipse">
            <a:avLst/>
          </a:prstGeom>
          <a:solidFill>
            <a:srgbClr val="8FB996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4721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395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AMS Works — A Technical Guide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Attendance</a:t>
            </a:r>
            <a:pPr indent="0" marL="0">
              <a:buNone/>
            </a:pPr>
            <a:r>
              <a:rPr lang="en-US" sz="1500" dirty="0">
                <a:solidFill>
                  <a:srgbClr val="3C6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D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Late / Absent Logic</a:t>
            </a:r>
            <a:pPr indent="0" marL="0">
              <a:buNone/>
            </a:pPr>
            <a:r>
              <a:rPr lang="en-US" sz="1500" dirty="0">
                <a:solidFill>
                  <a:srgbClr val="3C6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D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" y="4160520"/>
            <a:ext cx="3931920" cy="0"/>
          </a:xfrm>
          <a:prstGeom prst="line">
            <a:avLst/>
          </a:prstGeom>
          <a:noFill/>
          <a:ln w="19050">
            <a:solidFill>
              <a:srgbClr val="3C6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279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 · FCITR  |  Android (Kotlin) + Oracle APEX REST + Oracle DB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guide covers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68833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325880"/>
            <a:ext cx="2688336" cy="10972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737360"/>
            <a:ext cx="841248" cy="841248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956816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93976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768096" y="27432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Taking Attendance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8096" y="3200400"/>
            <a:ext cx="21214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flow — from the instructor generating a code to the student's confirmation and auto-absent marking.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92424" y="1325880"/>
            <a:ext cx="268833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92424" y="1325880"/>
            <a:ext cx="2688336" cy="10972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14" name="Shape 10"/>
          <p:cNvSpPr/>
          <p:nvPr/>
        </p:nvSpPr>
        <p:spPr>
          <a:xfrm>
            <a:off x="3712464" y="1737360"/>
            <a:ext cx="841248" cy="841248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956816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3703320" y="27432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/ Late / Absent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3703320" y="3200400"/>
            <a:ext cx="21214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timing rule — the 80% / 100% split — decided on the server using stored cutoff timestamps.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27648" y="1325880"/>
            <a:ext cx="268833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27648" y="1325880"/>
            <a:ext cx="2688336" cy="10972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1" name="Shape 16"/>
          <p:cNvSpPr/>
          <p:nvPr/>
        </p:nvSpPr>
        <p:spPr>
          <a:xfrm>
            <a:off x="6647688" y="1737360"/>
            <a:ext cx="841248" cy="841248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95681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64424" y="1691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6638544" y="274320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6638544" y="3200400"/>
            <a:ext cx="21214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Oracle tables, how they relate, and the key design decisions behind the schema.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560320"/>
            <a:ext cx="4023360" cy="4023360"/>
          </a:xfrm>
          <a:prstGeom prst="ellipse">
            <a:avLst/>
          </a:prstGeom>
          <a:solidFill>
            <a:srgbClr val="3C645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371600"/>
            <a:ext cx="3291840" cy="3291840"/>
          </a:xfrm>
          <a:prstGeom prst="ellipse">
            <a:avLst/>
          </a:prstGeom>
          <a:solidFill>
            <a:srgbClr val="2E4F3D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3C6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7040880" y="1097280"/>
            <a:ext cx="1280160" cy="1280160"/>
          </a:xfrm>
          <a:prstGeom prst="ellipse">
            <a:avLst/>
          </a:prstGeom>
          <a:solidFill>
            <a:srgbClr val="8FB996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Through Taking Attendance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04672" y="35844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instructor's code to the student's confirmation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 at a glance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88336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91440" cy="175564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7" name="Shape 4"/>
          <p:cNvSpPr/>
          <p:nvPr/>
        </p:nvSpPr>
        <p:spPr>
          <a:xfrm>
            <a:off x="694944" y="1408176"/>
            <a:ext cx="530352" cy="530352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5270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32304" y="13350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94944" y="19385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the session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94944" y="22494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picks 1–15 min and taps Generate.</a:t>
            </a:r>
            <a:endParaRPr lang="en-US" sz="970" dirty="0"/>
          </a:p>
        </p:txBody>
      </p:sp>
      <p:sp>
        <p:nvSpPr>
          <p:cNvPr id="12" name="Text 8"/>
          <p:cNvSpPr/>
          <p:nvPr/>
        </p:nvSpPr>
        <p:spPr>
          <a:xfrm>
            <a:off x="694944" y="265176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C6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start/</a:t>
            </a:r>
            <a:endParaRPr lang="en-US" sz="870" dirty="0"/>
          </a:p>
        </p:txBody>
      </p:sp>
      <p:sp>
        <p:nvSpPr>
          <p:cNvPr id="13" name="Shape 9"/>
          <p:cNvSpPr/>
          <p:nvPr/>
        </p:nvSpPr>
        <p:spPr>
          <a:xfrm>
            <a:off x="3392424" y="1188720"/>
            <a:ext cx="2688336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92424" y="1188720"/>
            <a:ext cx="91440" cy="175564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15" name="Shape 11"/>
          <p:cNvSpPr/>
          <p:nvPr/>
        </p:nvSpPr>
        <p:spPr>
          <a:xfrm>
            <a:off x="3630168" y="1408176"/>
            <a:ext cx="530352" cy="530352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5270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67528" y="13350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3630168" y="19385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code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30168" y="22494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issues a 5-digit code with 80% &amp; 100% cutoffs.</a:t>
            </a:r>
            <a:endParaRPr lang="en-US" sz="970" dirty="0"/>
          </a:p>
        </p:txBody>
      </p:sp>
      <p:sp>
        <p:nvSpPr>
          <p:cNvPr id="20" name="Text 15"/>
          <p:cNvSpPr/>
          <p:nvPr/>
        </p:nvSpPr>
        <p:spPr>
          <a:xfrm>
            <a:off x="3630168" y="265176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C6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ATTENDANCE_CODES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6327648" y="1188720"/>
            <a:ext cx="2688336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27648" y="1188720"/>
            <a:ext cx="91440" cy="175564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3" name="Shape 18"/>
          <p:cNvSpPr/>
          <p:nvPr/>
        </p:nvSpPr>
        <p:spPr>
          <a:xfrm>
            <a:off x="6565392" y="1408176"/>
            <a:ext cx="530352" cy="530352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152704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02752" y="13350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565392" y="19385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Notify the student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565392" y="22494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polls (~5 s) and shows a heads-up alert.</a:t>
            </a:r>
            <a:endParaRPr lang="en-US" sz="970" dirty="0"/>
          </a:p>
        </p:txBody>
      </p:sp>
      <p:sp>
        <p:nvSpPr>
          <p:cNvPr id="28" name="Text 22"/>
          <p:cNvSpPr/>
          <p:nvPr/>
        </p:nvSpPr>
        <p:spPr>
          <a:xfrm>
            <a:off x="6565392" y="265176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C6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active_session/</a:t>
            </a:r>
            <a:endParaRPr lang="en-US" sz="870" dirty="0"/>
          </a:p>
        </p:txBody>
      </p:sp>
      <p:sp>
        <p:nvSpPr>
          <p:cNvPr id="29" name="Shape 23"/>
          <p:cNvSpPr/>
          <p:nvPr/>
        </p:nvSpPr>
        <p:spPr>
          <a:xfrm>
            <a:off x="457200" y="3017520"/>
            <a:ext cx="2688336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3017520"/>
            <a:ext cx="91440" cy="175564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31" name="Shape 25"/>
          <p:cNvSpPr/>
          <p:nvPr/>
        </p:nvSpPr>
        <p:spPr>
          <a:xfrm>
            <a:off x="694944" y="3236976"/>
            <a:ext cx="530352" cy="530352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35584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432304" y="31638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694944" y="37673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the code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694944" y="40782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code is validated and recorded.</a:t>
            </a:r>
            <a:endParaRPr lang="en-US" sz="970" dirty="0"/>
          </a:p>
        </p:txBody>
      </p:sp>
      <p:sp>
        <p:nvSpPr>
          <p:cNvPr id="36" name="Text 29"/>
          <p:cNvSpPr/>
          <p:nvPr/>
        </p:nvSpPr>
        <p:spPr>
          <a:xfrm>
            <a:off x="694944" y="448056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C6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attend/</a:t>
            </a:r>
            <a:endParaRPr lang="en-US" sz="870" dirty="0"/>
          </a:p>
        </p:txBody>
      </p:sp>
      <p:sp>
        <p:nvSpPr>
          <p:cNvPr id="37" name="Shape 30"/>
          <p:cNvSpPr/>
          <p:nvPr/>
        </p:nvSpPr>
        <p:spPr>
          <a:xfrm>
            <a:off x="3392424" y="3017520"/>
            <a:ext cx="2688336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392424" y="3017520"/>
            <a:ext cx="91440" cy="175564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39" name="Shape 32"/>
          <p:cNvSpPr/>
          <p:nvPr/>
        </p:nvSpPr>
        <p:spPr>
          <a:xfrm>
            <a:off x="3630168" y="3236976"/>
            <a:ext cx="530352" cy="530352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355848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67528" y="31638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2" name="Text 34"/>
          <p:cNvSpPr/>
          <p:nvPr/>
        </p:nvSpPr>
        <p:spPr>
          <a:xfrm>
            <a:off x="3630168" y="37673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or Late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3630168" y="40782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submit time vs the cutoffs.</a:t>
            </a:r>
            <a:endParaRPr lang="en-US" sz="970" dirty="0"/>
          </a:p>
        </p:txBody>
      </p:sp>
      <p:sp>
        <p:nvSpPr>
          <p:cNvPr id="44" name="Text 36"/>
          <p:cNvSpPr/>
          <p:nvPr/>
        </p:nvSpPr>
        <p:spPr>
          <a:xfrm>
            <a:off x="3630168" y="448056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C6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P / L</a:t>
            </a:r>
            <a:endParaRPr lang="en-US" sz="870" dirty="0"/>
          </a:p>
        </p:txBody>
      </p:sp>
      <p:sp>
        <p:nvSpPr>
          <p:cNvPr id="45" name="Shape 37"/>
          <p:cNvSpPr/>
          <p:nvPr/>
        </p:nvSpPr>
        <p:spPr>
          <a:xfrm>
            <a:off x="6327648" y="3017520"/>
            <a:ext cx="2688336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327648" y="3017520"/>
            <a:ext cx="91440" cy="1755648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47" name="Shape 39"/>
          <p:cNvSpPr/>
          <p:nvPr/>
        </p:nvSpPr>
        <p:spPr>
          <a:xfrm>
            <a:off x="6565392" y="3236976"/>
            <a:ext cx="530352" cy="530352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3355848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302752" y="316382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50" name="Text 41"/>
          <p:cNvSpPr/>
          <p:nvPr/>
        </p:nvSpPr>
        <p:spPr>
          <a:xfrm>
            <a:off x="6565392" y="37673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Auto-absent at end</a:t>
            </a:r>
            <a:endParaRPr lang="en-US" sz="1300" dirty="0"/>
          </a:p>
        </p:txBody>
      </p:sp>
      <p:sp>
        <p:nvSpPr>
          <p:cNvPr id="51" name="Text 42"/>
          <p:cNvSpPr/>
          <p:nvPr/>
        </p:nvSpPr>
        <p:spPr>
          <a:xfrm>
            <a:off x="6565392" y="4078224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7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Non-attendees are marked Absent.</a:t>
            </a:r>
            <a:endParaRPr lang="en-US" sz="970" dirty="0"/>
          </a:p>
        </p:txBody>
      </p:sp>
      <p:sp>
        <p:nvSpPr>
          <p:cNvPr id="52" name="Text 43"/>
          <p:cNvSpPr/>
          <p:nvPr/>
        </p:nvSpPr>
        <p:spPr>
          <a:xfrm>
            <a:off x="6565392" y="4480560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3C6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close_session/</a:t>
            </a:r>
            <a:endParaRPr lang="en-US" sz="870" dirty="0"/>
          </a:p>
        </p:txBody>
      </p:sp>
      <p:sp>
        <p:nvSpPr>
          <p:cNvPr id="53" name="Text 4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54" name="Text 45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Instructor: starting a session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52119" y="1188720"/>
            <a:ext cx="1387602" cy="2971800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6" name="Image 1" descr="C:/Users/admin/Desktop/senior-project/screenshots/instructor/03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39" y="1234440"/>
            <a:ext cx="1296162" cy="2880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88111" y="1124712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88111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4178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class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009519" y="1188720"/>
            <a:ext cx="1387602" cy="2971800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11" name="Image 2" descr="C:/Users/admin/Desktop/senior-project/screenshots/instructor/05_take_attend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239" y="1234440"/>
            <a:ext cx="1296162" cy="28803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945511" y="1124712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945511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697480" y="4178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Take Attendance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066919" y="1188720"/>
            <a:ext cx="1387602" cy="2971800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16" name="Image 3" descr="C:/Users/admin/Desktop/senior-project/screenshots/instructor/07_duration_s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639" y="1234440"/>
            <a:ext cx="1296162" cy="28803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02911" y="1124712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002911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54880" y="4178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duration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124319" y="1188720"/>
            <a:ext cx="1387602" cy="2971800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21" name="Image 4" descr="C:/Users/admin/Desktop/senior-project/screenshots/instructor/08_session_act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039" y="1234440"/>
            <a:ext cx="1296162" cy="28803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060311" y="1124712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060311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812280" y="4178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live countdown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scenes:  </a:t>
            </a:r>
            <a:pPr algn="ctr"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 runs in a foreground service, so the countdown survives screen changes — and </a:t>
            </a:r>
            <a:pPr algn="ctr" indent="0" marL="0">
              <a:buNone/>
            </a:pPr>
            <a:r>
              <a:rPr lang="en-US" sz="1050" b="1" dirty="0">
                <a:solidFill>
                  <a:srgbClr val="2E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slide-to-cancel</a:t>
            </a:r>
            <a:pPr algn="ctr"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ends a session early (cancel_session/).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Student: marking attendance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552651" y="1161288"/>
            <a:ext cx="1375258" cy="2944368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6" name="Image 1" descr="C:/Users/admin/Desktop/senior-project/screenshots/student/03b_home_session_notif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371" y="1207008"/>
            <a:ext cx="1283818" cy="28529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88643" y="1097280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88643" y="1097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34440" y="4123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drops in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884371" y="1161288"/>
            <a:ext cx="1375258" cy="2944368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11" name="Image 2" descr="C:/Users/admin/Desktop/senior-project/screenshots/student/06_code_ente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091" y="1207008"/>
            <a:ext cx="1283818" cy="28529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820363" y="1097280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820363" y="1097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66160" y="4123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auto-filled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16091" y="1161288"/>
            <a:ext cx="1375258" cy="2944368"/>
          </a:xfrm>
          <a:prstGeom prst="rect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16" name="Image 3" descr="C:/Users/admin/Desktop/senior-project/screenshots/student/07_attendance_submit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811" y="1207008"/>
            <a:ext cx="1283818" cy="285292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52083" y="1097280"/>
            <a:ext cx="420624" cy="420624"/>
          </a:xfrm>
          <a:prstGeom prst="ellipse">
            <a:avLst/>
          </a:prstGeom>
          <a:solidFill>
            <a:srgbClr val="8FB9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152083" y="1097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897880" y="4123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Present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the notification opens the submit screen with the code pre-filled; a silent receipt confirms </a:t>
            </a:r>
            <a:pPr algn="ctr" indent="0" marL="0">
              <a:buNone/>
            </a:pPr>
            <a:r>
              <a:rPr lang="en-US" sz="10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pPr algn="ctr"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algn="ctr" indent="0" marL="0">
              <a:buNone/>
            </a:pPr>
            <a:r>
              <a:rPr lang="en-US" sz="1050" b="1" dirty="0">
                <a:solidFill>
                  <a:srgbClr val="DFA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pPr algn="ctr"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hood: what each step calls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server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F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4F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start/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a code row; sets the 80% and 100% cutoff 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students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4F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active_session/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active code — the student app polls every ~5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attendance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4F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attend/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the code and records P / L in one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&amp; auto-absent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4F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close_session/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Bulk-inserts Absent for every student who didn't attend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early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4F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cancel_session/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the session's records and expires the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run over </a:t>
            </a:r>
            <a:pPr algn="ctr" indent="0" marL="0">
              <a:buNone/>
            </a:pPr>
            <a:r>
              <a:rPr lang="en-US" sz="1050" b="1" dirty="0">
                <a:solidFill>
                  <a:srgbClr val="2E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pPr algn="ctr" indent="0" marL="0"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every PL/SQL response is wrapped as </a:t>
            </a:r>
            <a:pPr algn="ctr" indent="0" marL="0">
              <a:buNone/>
            </a:pPr>
            <a:r>
              <a:rPr lang="en-US" sz="1050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{"body": …}</a:t>
            </a:r>
            <a:pPr algn="ctr" indent="0" marL="0"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parsed outer-first.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560320"/>
            <a:ext cx="4023360" cy="4023360"/>
          </a:xfrm>
          <a:prstGeom prst="ellipse">
            <a:avLst/>
          </a:prstGeom>
          <a:solidFill>
            <a:srgbClr val="3C645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371600"/>
            <a:ext cx="3291840" cy="3291840"/>
          </a:xfrm>
          <a:prstGeom prst="ellipse">
            <a:avLst/>
          </a:prstGeom>
          <a:solidFill>
            <a:srgbClr val="2E4F3D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3C6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7040880" y="1097280"/>
            <a:ext cx="1280160" cy="1280160"/>
          </a:xfrm>
          <a:prstGeom prst="ellipse">
            <a:avLst/>
          </a:prstGeom>
          <a:solidFill>
            <a:srgbClr val="8FB996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Present / Late / Absent Is Decided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04672" y="35844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timing rule, enforced on the server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80% / 100% timing rule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31520" y="2331720"/>
            <a:ext cx="5559552" cy="7315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6" name="Shape 3"/>
          <p:cNvSpPr/>
          <p:nvPr/>
        </p:nvSpPr>
        <p:spPr>
          <a:xfrm>
            <a:off x="6291072" y="2331720"/>
            <a:ext cx="1389888" cy="731520"/>
          </a:xfrm>
          <a:prstGeom prst="rect">
            <a:avLst/>
          </a:prstGeom>
          <a:solidFill>
            <a:srgbClr val="DFA006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0" y="2331720"/>
            <a:ext cx="91440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1720"/>
            <a:ext cx="5559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 (P)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91072" y="233172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 (L)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2075688"/>
            <a:ext cx="0" cy="256032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1764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-45720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start_time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91072" y="2075688"/>
            <a:ext cx="0" cy="256032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1764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13832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end_time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80960" y="2075688"/>
            <a:ext cx="0" cy="256032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1764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3118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03720" y="3447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invalid / expired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152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cutoffs (</a:t>
            </a:r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end_time</a:t>
            </a:r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</a:t>
            </a:r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written to the database when the session starts — so the student's phone clock can't change the outcome.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statuses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1993392" cy="6583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61872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" y="2029968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" y="2395728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before the 80% cutoff.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2642616" y="128016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42616" y="1280160"/>
            <a:ext cx="1993392" cy="658368"/>
          </a:xfrm>
          <a:prstGeom prst="rect">
            <a:avLst/>
          </a:prstGeom>
          <a:solidFill>
            <a:srgbClr val="DFA006"/>
          </a:solidFill>
          <a:ln/>
        </p:spPr>
      </p:sp>
      <p:sp>
        <p:nvSpPr>
          <p:cNvPr id="12" name="Text 9"/>
          <p:cNvSpPr/>
          <p:nvPr/>
        </p:nvSpPr>
        <p:spPr>
          <a:xfrm>
            <a:off x="2642616" y="1261872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2752344" y="2029968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88920" y="2395728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between 80% and 100%.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4828032" y="128016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28032" y="1280160"/>
            <a:ext cx="1993392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4828032" y="1261872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4937760" y="2029968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74336" y="2395728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submitted — set when the session closes.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7013448" y="128016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13448" y="1280160"/>
            <a:ext cx="1993392" cy="658368"/>
          </a:xfrm>
          <a:prstGeom prst="rect">
            <a:avLst/>
          </a:prstGeom>
          <a:solidFill>
            <a:srgbClr val="9AA7A0"/>
          </a:solidFill>
          <a:ln/>
        </p:spPr>
      </p:sp>
      <p:sp>
        <p:nvSpPr>
          <p:cNvPr id="22" name="Text 19"/>
          <p:cNvSpPr/>
          <p:nvPr/>
        </p:nvSpPr>
        <p:spPr>
          <a:xfrm>
            <a:off x="7013448" y="1261872"/>
            <a:ext cx="19933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7123176" y="2029968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59752" y="2395728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while a session is still active.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457200" y="3429000"/>
            <a:ext cx="8229600" cy="1143000"/>
          </a:xfrm>
          <a:prstGeom prst="rect">
            <a:avLst/>
          </a:prstGeom>
          <a:solidFill>
            <a:srgbClr val="ECEFE8"/>
          </a:solidFill>
          <a:ln w="12700">
            <a:solidFill>
              <a:srgbClr val="DDE2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429000"/>
            <a:ext cx="91440" cy="1143000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538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— a 10-minute session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31520" y="3959352"/>
            <a:ext cx="1874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3959352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8:00  </a:t>
            </a:r>
            <a:pPr algn="ctr" indent="0" marL="0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Present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70632" y="3959352"/>
            <a:ext cx="1874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FA0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25496" y="3959352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8:00 – 10:00  </a:t>
            </a:r>
            <a:pPr algn="ctr" indent="0" marL="0">
              <a:buNone/>
            </a:pPr>
            <a:r>
              <a:rPr lang="en-US" sz="950" b="1" dirty="0">
                <a:solidFill>
                  <a:srgbClr val="DFA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Late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809744" y="3959352"/>
            <a:ext cx="1874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64608" y="3959352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10:00  </a:t>
            </a:r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Rejected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848856" y="3959352"/>
            <a:ext cx="18745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959352"/>
            <a:ext cx="1764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submit  </a:t>
            </a:r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Absent at close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rule is reliable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664208"/>
            <a:ext cx="777240" cy="77724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65376"/>
            <a:ext cx="374904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Decided on the server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691640" y="199339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comes from stored cutoffs, not the client — a student can't fake Present.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3716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65192" y="1664208"/>
            <a:ext cx="777240" cy="77724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865376"/>
            <a:ext cx="374904" cy="374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submission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943600" y="199339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attend/ validates and records in one transaction; duplicates are blocked by code.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01752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310128"/>
            <a:ext cx="777240" cy="77724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11296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3273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time zone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691640" y="363931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timestamps use Asia/Riyadh (SYSTIMESTAMP AT TIME ZONE) — no DST drift.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301752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65192" y="3310128"/>
            <a:ext cx="777240" cy="77724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511296"/>
            <a:ext cx="374904" cy="374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43600" y="3273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Auto-absent on close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943600" y="363931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Non-attendees are marked Absent automatically — fair, with no manual roll-call.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560320"/>
            <a:ext cx="4023360" cy="4023360"/>
          </a:xfrm>
          <a:prstGeom prst="ellipse">
            <a:avLst/>
          </a:prstGeom>
          <a:solidFill>
            <a:srgbClr val="3C645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371600"/>
            <a:ext cx="3291840" cy="3291840"/>
          </a:xfrm>
          <a:prstGeom prst="ellipse">
            <a:avLst/>
          </a:prstGeom>
          <a:solidFill>
            <a:srgbClr val="2E4F3D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3C6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7040880" y="1097280"/>
            <a:ext cx="1280160" cy="1280160"/>
          </a:xfrm>
          <a:prstGeom prst="ellipse">
            <a:avLst/>
          </a:prstGeom>
          <a:solidFill>
            <a:srgbClr val="8FB996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04672" y="35844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related tables on Oracle Database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tables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9844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98448"/>
            <a:ext cx="2688336" cy="420624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29844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3504" y="181051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profiles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" y="2139696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role · email · name · gpa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3392424" y="129844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92424" y="1298448"/>
            <a:ext cx="2688336" cy="420624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12" name="Text 9"/>
          <p:cNvSpPr/>
          <p:nvPr/>
        </p:nvSpPr>
        <p:spPr>
          <a:xfrm>
            <a:off x="3538728" y="129844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538728" y="181051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38728" y="2139696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course_code · name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6327648" y="129844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27648" y="1298448"/>
            <a:ext cx="2688336" cy="420624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129844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73952" y="181051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taught by an instructor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73952" y="2139696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 · course_code · instructor_id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57200" y="303580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035808"/>
            <a:ext cx="2688336" cy="420624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" y="303580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SECTION_ENROLLMENTS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03504" y="35478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each section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3504" y="3877056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 · student_id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3392424" y="303580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3035808"/>
            <a:ext cx="2688336" cy="420624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7" name="Text 24"/>
          <p:cNvSpPr/>
          <p:nvPr/>
        </p:nvSpPr>
        <p:spPr>
          <a:xfrm>
            <a:off x="3538728" y="303580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ATTENDANCE_CODES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538728" y="35478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38728" y="3877056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· section_id · end_time · expires_at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6327648" y="303580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27648" y="3035808"/>
            <a:ext cx="2688336" cy="420624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32" name="Text 29"/>
          <p:cNvSpPr/>
          <p:nvPr/>
        </p:nvSpPr>
        <p:spPr>
          <a:xfrm>
            <a:off x="6473952" y="3035808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ATTENDANCE_RECORDS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473952" y="35478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mark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73952" y="3877056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· section_id · code · status · "TIMESTAMP"</a:t>
            </a:r>
            <a:endParaRPr lang="en-US" sz="870" dirty="0"/>
          </a:p>
        </p:txBody>
      </p:sp>
      <p:sp>
        <p:nvSpPr>
          <p:cNvPr id="35" name="Text 3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tables relate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2331720" y="2011680"/>
            <a:ext cx="1463040" cy="475488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5029200" y="2011680"/>
            <a:ext cx="1463040" cy="475488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17320" y="2011680"/>
            <a:ext cx="137160" cy="1874520"/>
          </a:xfrm>
          <a:prstGeom prst="line">
            <a:avLst/>
          </a:prstGeom>
          <a:noFill/>
          <a:ln w="19050">
            <a:solidFill>
              <a:srgbClr val="8FB99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 flipV="1">
            <a:off x="2468880" y="3419856"/>
            <a:ext cx="1280160" cy="466344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0" y="3419856"/>
            <a:ext cx="0" cy="466344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3419856"/>
            <a:ext cx="1600200" cy="466344"/>
          </a:xfrm>
          <a:prstGeom prst="line">
            <a:avLst/>
          </a:prstGeom>
          <a:noFill/>
          <a:ln w="19050">
            <a:solidFill>
              <a:srgbClr val="2E4F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097280"/>
            <a:ext cx="21945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F3D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1097280"/>
            <a:ext cx="2194560" cy="310896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109728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685800" y="1426464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E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(PK)
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· first/last_name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· gpa · major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9320" y="1097280"/>
            <a:ext cx="21945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F3D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1097280"/>
            <a:ext cx="2194560" cy="310896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17" name="Text 14"/>
          <p:cNvSpPr/>
          <p:nvPr/>
        </p:nvSpPr>
        <p:spPr>
          <a:xfrm>
            <a:off x="6062472" y="109728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6080760" y="1426464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course_code (PK)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91840" y="2487168"/>
            <a:ext cx="21945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2E4F3D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91840" y="2487168"/>
            <a:ext cx="2194560" cy="310896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1" name="Text 18"/>
          <p:cNvSpPr/>
          <p:nvPr/>
        </p:nvSpPr>
        <p:spPr>
          <a:xfrm>
            <a:off x="3364992" y="2487168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SECTIONS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3383280" y="2816352"/>
            <a:ext cx="20299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 (PK)
</a:t>
            </a:r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course_code · instructor_id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20040" y="3886200"/>
            <a:ext cx="254203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F3D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3886200"/>
            <a:ext cx="2542032" cy="310896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5" name="Text 22"/>
          <p:cNvSpPr/>
          <p:nvPr/>
        </p:nvSpPr>
        <p:spPr>
          <a:xfrm>
            <a:off x="393192" y="3886200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SECTION_ENROLLMENTS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411480" y="4215384"/>
            <a:ext cx="23774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enrollment_id (PK)
</a:t>
            </a:r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 · student_id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3886200"/>
            <a:ext cx="21945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F3D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91840" y="3886200"/>
            <a:ext cx="2194560" cy="310896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29" name="Text 26"/>
          <p:cNvSpPr/>
          <p:nvPr/>
        </p:nvSpPr>
        <p:spPr>
          <a:xfrm>
            <a:off x="3364992" y="3886200"/>
            <a:ext cx="2084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ATTENDANCE_CODES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3383280" y="4215384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(PK)
</a:t>
            </a:r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end_time · expires_at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236208" y="3886200"/>
            <a:ext cx="258775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F3D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36208" y="3886200"/>
            <a:ext cx="2587752" cy="310896"/>
          </a:xfrm>
          <a:prstGeom prst="rect">
            <a:avLst/>
          </a:prstGeom>
          <a:solidFill>
            <a:srgbClr val="2E4F3D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0" y="3886200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ATTENDANCE_RECORDS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327648" y="4215384"/>
            <a:ext cx="2423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 · </a:t>
            </a:r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2E4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· section_id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03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status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053328" y="2395728"/>
            <a:ext cx="274320" cy="0"/>
          </a:xfrm>
          <a:prstGeom prst="line">
            <a:avLst/>
          </a:prstGeom>
          <a:noFill/>
          <a:ln w="19050">
            <a:solidFill>
              <a:srgbClr val="8FB996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6382512" y="22494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instructor → USERS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382512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= foreign key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03504" cy="603504"/>
          </a:xfrm>
          <a:prstGeom prst="ellipse">
            <a:avLst/>
          </a:prstGeom>
          <a:solidFill>
            <a:srgbClr val="2E4F3D"/>
          </a:solidFill>
          <a:ln/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decisions &amp; gotchas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691640"/>
            <a:ext cx="731520" cy="73152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6537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6093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Junction table for many-to-many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645920" y="210312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SECTION_ENROLLMENTS links students ↔ sections — keeps the schema normalized.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160" y="13716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65192" y="1691640"/>
            <a:ext cx="731520" cy="73152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8653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97880" y="16093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is the primary key of the codes table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97880" y="210312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its own row, so the app keeps full per-session history.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301752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337560"/>
            <a:ext cx="731520" cy="73152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1129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32552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"TIMESTAMP" is a reserved word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645920" y="37490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always quoted in PL/SQL, or Oracle silently fails the insert.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709160" y="301752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5"/>
            </a:solidFill>
            <a:prstDash val="solid"/>
          </a:ln>
          <a:effectLst>
            <a:outerShdw sx="100000" sy="100000" kx="0" ky="0" algn="bl" rotWithShape="0" blurRad="88900" dist="38100" dir="8100000">
              <a:srgbClr val="1A2A2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65192" y="3337560"/>
            <a:ext cx="731520" cy="731520"/>
          </a:xfrm>
          <a:prstGeom prst="ellipse">
            <a:avLst/>
          </a:prstGeom>
          <a:solidFill>
            <a:srgbClr val="2E4F3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35112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97880" y="32552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times in Asia/Riyadh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897880" y="37490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via CAST(SYSTIMESTAMP AT TIME ZONE 'Asia/Riyadh') — consistent &amp; DST-free.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Technical Guide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84124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3C645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3108960" cy="3108960"/>
          </a:xfrm>
          <a:prstGeom prst="ellipse">
            <a:avLst/>
          </a:prstGeom>
          <a:solidFill>
            <a:srgbClr val="2E4F3D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453896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attendance  —  </a:t>
            </a:r>
            <a:pPr indent="0" marL="0">
              <a:buNone/>
            </a:pPr>
            <a:r>
              <a:rPr lang="en-US" sz="1300" dirty="0">
                <a:solidFill>
                  <a:srgbClr val="D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generates a timed code → student submits → auto-absent at close.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08760" y="2295144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Late / Absent  —  </a:t>
            </a:r>
            <a:pPr indent="0" marL="0">
              <a:buNone/>
            </a:pPr>
            <a:r>
              <a:rPr lang="en-US" sz="1300" dirty="0">
                <a:solidFill>
                  <a:srgbClr val="D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server-side by the 80% / 100% cutoffs stored when the session starts.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99816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08760" y="313639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—  </a:t>
            </a:r>
            <a:pPr indent="0" marL="0">
              <a:buNone/>
            </a:pPr>
            <a:r>
              <a:rPr lang="en-US" sz="1300" dirty="0">
                <a:solidFill>
                  <a:srgbClr val="DC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related Oracle tables, with code-per-session history and Riyadh timestamps.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600200" cy="457200"/>
          </a:xfrm>
          <a:prstGeom prst="rect">
            <a:avLst/>
          </a:prstGeom>
          <a:solidFill>
            <a:srgbClr val="3C64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5-digit 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50008" y="4160520"/>
            <a:ext cx="1600200" cy="457200"/>
          </a:xfrm>
          <a:prstGeom prst="rect">
            <a:avLst/>
          </a:prstGeom>
          <a:solidFill>
            <a:srgbClr val="3C6450"/>
          </a:solidFill>
          <a:ln/>
        </p:spPr>
      </p:sp>
      <p:sp>
        <p:nvSpPr>
          <p:cNvPr id="14" name="Text 12"/>
          <p:cNvSpPr/>
          <p:nvPr/>
        </p:nvSpPr>
        <p:spPr>
          <a:xfrm>
            <a:off x="2350008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100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59936" y="4160520"/>
            <a:ext cx="1600200" cy="457200"/>
          </a:xfrm>
          <a:prstGeom prst="rect">
            <a:avLst/>
          </a:prstGeom>
          <a:solidFill>
            <a:srgbClr val="3C6450"/>
          </a:solidFill>
          <a:ln/>
        </p:spPr>
      </p:sp>
      <p:sp>
        <p:nvSpPr>
          <p:cNvPr id="16" name="Text 14"/>
          <p:cNvSpPr/>
          <p:nvPr/>
        </p:nvSpPr>
        <p:spPr>
          <a:xfrm>
            <a:off x="4059936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9864" y="4160520"/>
            <a:ext cx="1600200" cy="457200"/>
          </a:xfrm>
          <a:prstGeom prst="rect">
            <a:avLst/>
          </a:prstGeom>
          <a:solidFill>
            <a:srgbClr val="3C645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9864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Gson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79792" y="4160520"/>
            <a:ext cx="1600200" cy="457200"/>
          </a:xfrm>
          <a:prstGeom prst="rect">
            <a:avLst/>
          </a:prstGeom>
          <a:solidFill>
            <a:srgbClr val="3C6450"/>
          </a:solidFill>
          <a:ln/>
        </p:spPr>
      </p:sp>
      <p:sp>
        <p:nvSpPr>
          <p:cNvPr id="20" name="Text 18"/>
          <p:cNvSpPr/>
          <p:nvPr/>
        </p:nvSpPr>
        <p:spPr>
          <a:xfrm>
            <a:off x="7479792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· King Abdulaziz University — FCITR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Technical Guide</dc:title>
  <dc:subject>PptxGenJS Presentation</dc:subject>
  <dc:creator>AMS Team</dc:creator>
  <cp:lastModifiedBy>AMS Team</cp:lastModifiedBy>
  <cp:revision>1</cp:revision>
  <dcterms:created xsi:type="dcterms:W3CDTF">2026-06-17T20:29:21Z</dcterms:created>
  <dcterms:modified xsi:type="dcterms:W3CDTF">2026-06-17T20:29:21Z</dcterms:modified>
</cp:coreProperties>
</file>